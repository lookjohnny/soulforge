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a2052130cc4188" /><Relationship Type="http://schemas.openxmlformats.org/officeDocument/2006/relationships/extended-properties" Target="/docProps/app.xml" Id="R9d46d821325b44f4" /><Relationship Type="http://schemas.openxmlformats.org/officeDocument/2006/relationships/officeDocument" Target="/ppt/presentation.xml" Id="Rf3d8be3bce5940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a255b55df94d0f"/>
  </p:sldMasterIdLst>
  <p:notesMasterIdLst>
    <p:notesMasterId xmlns:r="http://schemas.openxmlformats.org/officeDocument/2006/relationships" r:id="Rb5d334990645413c"/>
  </p:notesMasterIdLst>
  <p:sldIdLst>
    <p:sldId xmlns:r="http://schemas.openxmlformats.org/officeDocument/2006/relationships" id="256" r:id="Re953ea5d2be74139"/>
    <p:sldId xmlns:r="http://schemas.openxmlformats.org/officeDocument/2006/relationships" id="257" r:id="Rf3f59a13b5c44be2"/>
    <p:sldId xmlns:r="http://schemas.openxmlformats.org/officeDocument/2006/relationships" id="258" r:id="Rb1d8752a4bb14009"/>
    <p:sldId xmlns:r="http://schemas.openxmlformats.org/officeDocument/2006/relationships" id="259" r:id="R967d84d5f9b44e8d"/>
    <p:sldId xmlns:r="http://schemas.openxmlformats.org/officeDocument/2006/relationships" id="260" r:id="R1d8f6c1783cf404d"/>
    <p:sldId xmlns:r="http://schemas.openxmlformats.org/officeDocument/2006/relationships" id="261" r:id="R060e808052b747e4"/>
    <p:sldId xmlns:r="http://schemas.openxmlformats.org/officeDocument/2006/relationships" id="262" r:id="Rda96f17c803641a5"/>
    <p:sldId xmlns:r="http://schemas.openxmlformats.org/officeDocument/2006/relationships" id="263" r:id="R448d074a1735484e"/>
    <p:sldId xmlns:r="http://schemas.openxmlformats.org/officeDocument/2006/relationships" id="264" r:id="Re62e1854dcc3421d"/>
    <p:sldId xmlns:r="http://schemas.openxmlformats.org/officeDocument/2006/relationships" id="265" r:id="R20687d4fb3b54fa2"/>
    <p:sldId xmlns:r="http://schemas.openxmlformats.org/officeDocument/2006/relationships" id="266" r:id="Rb5acc38ec8cb473f"/>
    <p:sldId xmlns:r="http://schemas.openxmlformats.org/officeDocument/2006/relationships" id="267" r:id="R32bb93744a7c46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6f9a4344e74ba8" /><Relationship Type="http://schemas.openxmlformats.org/officeDocument/2006/relationships/slideMaster" Target="/ppt/slideMasters/slideMaster1.xml" Id="R69a255b55df94d0f" /><Relationship Type="http://schemas.openxmlformats.org/officeDocument/2006/relationships/notesMaster" Target="/ppt/notesMasters/notesMaster1.xml" Id="Rb5d334990645413c" /><Relationship Type="http://schemas.openxmlformats.org/officeDocument/2006/relationships/presProps" Target="/ppt/presProps.xml" Id="R493885159af7499f" /><Relationship Type="http://schemas.openxmlformats.org/officeDocument/2006/relationships/viewProps" Target="/ppt/viewProps.xml" Id="Rd90d3cf63e7348df" /><Relationship Type="http://schemas.openxmlformats.org/officeDocument/2006/relationships/tableStyles" Target="/ppt/tableStyles.xml" Id="R170b0516b2664308" /><Relationship Type="http://schemas.openxmlformats.org/officeDocument/2006/relationships/slide" Target="/ppt/slides/slide1.xml" Id="Re953ea5d2be74139" /><Relationship Type="http://schemas.openxmlformats.org/officeDocument/2006/relationships/slide" Target="/ppt/slides/slide2.xml" Id="Rf3f59a13b5c44be2" /><Relationship Type="http://schemas.openxmlformats.org/officeDocument/2006/relationships/slide" Target="/ppt/slides/slide3.xml" Id="Rb1d8752a4bb14009" /><Relationship Type="http://schemas.openxmlformats.org/officeDocument/2006/relationships/slide" Target="/ppt/slides/slide4.xml" Id="R967d84d5f9b44e8d" /><Relationship Type="http://schemas.openxmlformats.org/officeDocument/2006/relationships/slide" Target="/ppt/slides/slide5.xml" Id="R1d8f6c1783cf404d" /><Relationship Type="http://schemas.openxmlformats.org/officeDocument/2006/relationships/slide" Target="/ppt/slides/slide6.xml" Id="R060e808052b747e4" /><Relationship Type="http://schemas.openxmlformats.org/officeDocument/2006/relationships/slide" Target="/ppt/slides/slide7.xml" Id="Rda96f17c803641a5" /><Relationship Type="http://schemas.openxmlformats.org/officeDocument/2006/relationships/slide" Target="/ppt/slides/slide8.xml" Id="R448d074a1735484e" /><Relationship Type="http://schemas.openxmlformats.org/officeDocument/2006/relationships/slide" Target="/ppt/slides/slide9.xml" Id="Re62e1854dcc3421d" /><Relationship Type="http://schemas.openxmlformats.org/officeDocument/2006/relationships/slide" Target="/ppt/slides/slide10.xml" Id="R20687d4fb3b54fa2" /><Relationship Type="http://schemas.openxmlformats.org/officeDocument/2006/relationships/slide" Target="/ppt/slides/slide11.xml" Id="Rb5acc38ec8cb473f" /><Relationship Type="http://schemas.openxmlformats.org/officeDocument/2006/relationships/slide" Target="/ppt/slides/slide12.xml" Id="R32bb93744a7c46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9738290cf64c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bc12034c374462" /><Relationship Type="http://schemas.openxmlformats.org/officeDocument/2006/relationships/notesMaster" Target="/ppt/notesMasters/notesMaster1.xml" Id="Rdeb39aae0e9d49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ffb1ddf8664069" /><Relationship Type="http://schemas.openxmlformats.org/officeDocument/2006/relationships/notesMaster" Target="/ppt/notesMasters/notesMaster1.xml" Id="R4225772e07d24d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381a515e3043c4" /><Relationship Type="http://schemas.openxmlformats.org/officeDocument/2006/relationships/notesMaster" Target="/ppt/notesMasters/notesMaster1.xml" Id="R6a01bdd2087842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3fc8b293fe4668" /><Relationship Type="http://schemas.openxmlformats.org/officeDocument/2006/relationships/notesMaster" Target="/ppt/notesMasters/notesMaster1.xml" Id="Rcf6ed7385e4447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4e3b4a52304572" /><Relationship Type="http://schemas.openxmlformats.org/officeDocument/2006/relationships/notesMaster" Target="/ppt/notesMasters/notesMaster1.xml" Id="Re89ddfc3ac7e4e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861caa8d584fd0" /><Relationship Type="http://schemas.openxmlformats.org/officeDocument/2006/relationships/notesMaster" Target="/ppt/notesMasters/notesMaster1.xml" Id="R684d3ac9e92a41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6d63430ae24ba5" /><Relationship Type="http://schemas.openxmlformats.org/officeDocument/2006/relationships/notesMaster" Target="/ppt/notesMasters/notesMaster1.xml" Id="R030e9ecce17c44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64bcad281a46c0" /><Relationship Type="http://schemas.openxmlformats.org/officeDocument/2006/relationships/notesMaster" Target="/ppt/notesMasters/notesMaster1.xml" Id="R5ed1a16c305c4c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602ce972634f21" /><Relationship Type="http://schemas.openxmlformats.org/officeDocument/2006/relationships/notesMaster" Target="/ppt/notesMasters/notesMaster1.xml" Id="R0ffc312c79a545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05b92ce8c34522" /><Relationship Type="http://schemas.openxmlformats.org/officeDocument/2006/relationships/notesMaster" Target="/ppt/notesMasters/notesMaster1.xml" Id="Rba48210832ec48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b67d0f96f648df" /><Relationship Type="http://schemas.openxmlformats.org/officeDocument/2006/relationships/notesMaster" Target="/ppt/notesMasters/notesMaster1.xml" Id="R7b688eb8adf344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ef6a3ab83d4c4a" /><Relationship Type="http://schemas.openxmlformats.org/officeDocument/2006/relationships/notesMaster" Target="/ppt/notesMasters/notesMaster1.xml" Id="R37dd555428284f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8c9934e6343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67ed46a7504c56" /><Relationship Type="http://schemas.openxmlformats.org/officeDocument/2006/relationships/slideLayout" Target="/ppt/slideLayouts/slideLayout1.xml" Id="R08f7efdf3bf743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f7efdf3bf743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0f9e791d049cf" /><Relationship Type="http://schemas.openxmlformats.org/officeDocument/2006/relationships/notesSlide" Target="/ppt/notesSlides/notesSlide1.xml" Id="R30a9f0dc22d646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225228d594971" /><Relationship Type="http://schemas.openxmlformats.org/officeDocument/2006/relationships/notesSlide" Target="/ppt/notesSlides/notesSlide2.xml" Id="Rd4a9f6b6c7b548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dab32e41f4365" /><Relationship Type="http://schemas.openxmlformats.org/officeDocument/2006/relationships/notesSlide" Target="/ppt/notesSlides/notesSlide3.xml" Id="Rbb30de684d2148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507f6a13842cb" /><Relationship Type="http://schemas.openxmlformats.org/officeDocument/2006/relationships/notesSlide" Target="/ppt/notesSlides/notesSlide4.xml" Id="Rfeb7544d98714b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9c11156d343af" /><Relationship Type="http://schemas.openxmlformats.org/officeDocument/2006/relationships/notesSlide" Target="/ppt/notesSlides/notesSlide5.xml" Id="Rb1aba6ede4b148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c96373cd549a3" /><Relationship Type="http://schemas.openxmlformats.org/officeDocument/2006/relationships/notesSlide" Target="/ppt/notesSlides/notesSlide6.xml" Id="R0361bd1e8bdb47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ad2ff56c240d4" /><Relationship Type="http://schemas.openxmlformats.org/officeDocument/2006/relationships/notesSlide" Target="/ppt/notesSlides/notesSlide7.xml" Id="Raaec3cffac7f4d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5450c6318431d" /><Relationship Type="http://schemas.openxmlformats.org/officeDocument/2006/relationships/notesSlide" Target="/ppt/notesSlides/notesSlide8.xml" Id="Rff643595348443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bc79f0b2a479d" /><Relationship Type="http://schemas.openxmlformats.org/officeDocument/2006/relationships/notesSlide" Target="/ppt/notesSlides/notesSlide9.xml" Id="Rae5055962a9249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238ffdd31465b" /><Relationship Type="http://schemas.openxmlformats.org/officeDocument/2006/relationships/notesSlide" Target="/ppt/notesSlides/notesSlide10.xml" Id="R7b57d5bb04db46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c21f790f04d79" /><Relationship Type="http://schemas.openxmlformats.org/officeDocument/2006/relationships/notesSlide" Target="/ppt/notesSlides/notesSlide11.xml" Id="R601401e20fe148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f44adf9344146" /><Relationship Type="http://schemas.openxmlformats.org/officeDocument/2006/relationships/notesSlide" Target="/ppt/notesSlides/notesSlide12.xml" Id="Rad110111750e44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E623FB-56F3-4792-B141-BC8E8016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FEC59-AE73-478A-97D9-53529604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27648-0317-4C28-90BD-72BDC285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1E6"/>
                </a:solidFill>
                <a:latin typeface="Aptos"/>
                <a:ea typeface="Aptos"/>
                <a:cs typeface="Aptos"/>
              </a:rPr>
              <a:t>FINANCING ROADSHOW DISCUSSION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36FBF-24A5-44B5-9232-17E7DC89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239000" cy="9201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AI 潮玩的下一步：让 IP 角色真正进入现实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ADDBD-131F-4C8D-B24A-90DF1264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676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SoulForge 把二次元/游戏/潮玩 IP 变成有身体、有声音、有长期记忆和关系进化的 AI companion robot。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577A2-0272-44F7-8DF6-0B9F2BAA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81100"/>
            <a:ext cx="2100263" cy="2700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4D7"/>
          </a:solidFill>
          <a:ln xmlns:a="http://schemas.openxmlformats.org/drawingml/2006/main" w="19050">
            <a:solidFill>
              <a:srgbClr val="5A52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AC8B2-EBC4-4491-9F6B-12A9048B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048" y="2101215"/>
            <a:ext cx="420053" cy="480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6CDDF-32B7-4EA4-AB0A-54169C31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163" y="2101215"/>
            <a:ext cx="420053" cy="480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37F16-F094-4000-9B15-2F84C14C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066" y="226123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E4B4E-71A7-4A01-9F7D-72DA1D1F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181" y="226123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0BBBB-DCA8-4DD7-8EB2-1BA919FF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2105" y="2901315"/>
            <a:ext cx="420053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B1BBC-8CF6-492B-8956-727A3893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026" y="2761298"/>
            <a:ext cx="36004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EC7FA-40FA-4430-BC8B-2AE9C1A7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193" y="2761298"/>
            <a:ext cx="36004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026F3-5346-48F2-A6B7-86ADE4EE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028" y="921068"/>
            <a:ext cx="48006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4D7"/>
          </a:solidFill>
          <a:ln xmlns:a="http://schemas.openxmlformats.org/drawingml/2006/main" w="19050">
            <a:solidFill>
              <a:srgbClr val="5A52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A690C-3DE0-4D1F-9EFA-31F03B7A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921068"/>
            <a:ext cx="48006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4D7"/>
          </a:solidFill>
          <a:ln xmlns:a="http://schemas.openxmlformats.org/drawingml/2006/main" w="19050">
            <a:solidFill>
              <a:srgbClr val="5A52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53A04-3DEB-47E9-B0BB-5396A1F5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30D4A-260B-47C7-A2D9-AD974C75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148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1277DA-F7B9-4AD7-AB8B-B8A09AEF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0"/>
            <a:ext cx="2495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Embodied AI companion robot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0352B5-17CB-4BFA-80B9-30C47B40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E1C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EBE347-AAD7-4368-8808-42B8CAC7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5A4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5A47"/>
                </a:solidFill>
                <a:latin typeface="Aptos Display"/>
                <a:ea typeface="Aptos Display"/>
                <a:cs typeface="Aptos Display"/>
              </a:rPr>
              <a:t>Seed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72D2FC-03FD-4695-9E17-20AFB022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C6B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FC6BB"/>
                </a:solidFill>
                <a:latin typeface="PingFang SC"/>
                <a:ea typeface="PingFang SC"/>
                <a:cs typeface="PingFang SC"/>
              </a:rPr>
              <a:t>建议轮次：天使+/种子轮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38DA40-66CA-4CDE-B9C9-A528A9AD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958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E1C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623E3-D187-416E-B6BE-8D1073D1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292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C9B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C9B8"/>
                </a:solidFill>
                <a:latin typeface="Aptos Display"/>
                <a:ea typeface="Aptos Display"/>
                <a:cs typeface="Aptos Display"/>
              </a:rPr>
              <a:t>12-18 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44004-08B0-4AF6-8E45-14497B66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3721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C6B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FC6BB"/>
                </a:solidFill>
                <a:latin typeface="PingFang SC"/>
                <a:ea typeface="PingFang SC"/>
                <a:cs typeface="PingFang SC"/>
              </a:rPr>
              <a:t>资金使用周期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EBBB1A-DC95-4089-86F5-3B353F83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958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E1C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046328-01CA-4B17-B02C-0971A103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292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Demo first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BCC27D-F1ED-4B77-B7B9-E2B24A8E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3721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C6B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FC6BB"/>
                </a:solidFill>
                <a:latin typeface="PingFang SC"/>
                <a:ea typeface="PingFang SC"/>
                <a:cs typeface="PingFang SC"/>
              </a:rPr>
              <a:t>先用样机和留存说服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EB2CAF-D02E-4095-8A02-D51A0689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SoulForge / AI+潮玩融资路演版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0C80B0-248E-4670-BEFA-5F9D7D0F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353052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2FDE56-D4EF-4109-AD66-4FD49D09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84C16-482C-416F-BD4C-D61CDC43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295B4-9E92-4FC5-A667-1C6A1B98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111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1110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8E2BD-0041-472E-AA6F-6C413AE3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191500" cy="744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静态潮玩有情绪价值，但没有关系；AI 玩具会说话，但不像角色。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89ACF-94DC-4871-A307-6ABE9036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42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3F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33F3A"/>
                </a:solidFill>
                <a:latin typeface="PingFang SC"/>
                <a:ea typeface="PingFang SC"/>
                <a:cs typeface="PingFang SC"/>
              </a:rPr>
              <a:t>AI 潮玩的机会不是再做一个聊天盒子，而是把 IP 的情感投射升级成长期陪伴。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BF337-BF3E-4FF0-A0A5-10766AE4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DD4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1CFA5-0B9C-4B72-9FD9-B66B2F91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38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29E32-8CC2-4A95-A35C-D17E4337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传统潮玩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0E2CE-62A3-48DB-AC91-E6E5844F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8003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强 IP、强收藏、强渠道；但角色不会认识用户，也不会在日常里持续回应。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06DF3-B093-4C54-8C18-3BDB0DBF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DD4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8AC28-46FB-4DA3-AED8-B883A467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38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FCAEB-B489-44C6-87DF-3B8BAA3B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当前 AI 玩具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6E521-636D-4543-8910-C7EB60B0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19450"/>
            <a:ext cx="28003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能聊天，但体验常被延迟、泛问答、廉价机芯和角色不一致拉低，退货与售后压力高。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0A359-EDE1-4A0A-AEBE-F5A0B1F5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9525">
            <a:solidFill>
              <a:srgbClr val="12111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D5EA8-0F2A-40CF-9F2D-6EA2815F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8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752F8-5A41-4ED5-A032-BD3DF778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956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SoulForge 切入点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C7043-3D09-4AFA-B2B8-13351484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8003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rPr>
              <a:t>角色人格、声音、记忆、情绪和动作一致，先证明“像真实陪伴”，再规模化接入 IP。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939C6-6ADB-48F2-AC20-040DCC7C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817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8178"/>
                </a:solidFill>
                <a:latin typeface="PingFang SC"/>
                <a:ea typeface="PingFang SC"/>
                <a:cs typeface="PingFang SC"/>
              </a:rPr>
              <a:t>公开报道显示：AI+潮玩热度上升，但行业仍缺少全民级爆品，且用户对延迟、续航、互动浅等问题敏感。来源：36氪，2025-07 / 2026-04。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55ABE-D0E8-444C-A451-299BA8BB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Problem framing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0BDAD-3188-41E4-91FB-79782A40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09250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1D4BA4-AF25-475E-96AD-60FECFA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15A8E-D477-4A55-B0A7-3217209C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E8BEB-A5F2-46AE-A7CD-E265CA45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1E6"/>
                </a:solidFill>
                <a:latin typeface="Aptos"/>
                <a:ea typeface="Aptos"/>
                <a:cs typeface="Aptos"/>
              </a:rPr>
              <a:t>PRODUCT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DAF63-C289-4854-8018-090F237C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788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不是给玩具加 AI，而是给角色一个可持续的现实身体。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D3B31-EC67-4331-8822-ECE5D51E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SoulForge 是角色实体化引擎：上接 IP/人设/音色，下接表情硬件、语音与动作。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A8317-CA47-4216-8ACC-FB34DD22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09561-DC2A-45D4-BE16-DB8580FC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771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IP / 人设</a:t>
            </a:r>
          </a:p>
          <a:p xmlns:a="http://schemas.openxmlformats.org/drawingml/2006/main">
            <a:pPr algn="ctr">
              <a:def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世界观与语气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77ECD-CE38-4E6B-82F9-94A93CDC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2571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67E39-95D8-4469-BCD0-EA44694E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95600"/>
            <a:ext cx="2343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SoulForge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人格 + 记忆 + 情绪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23B8A-7651-47F3-8BD2-7980B014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B1C05-3DD4-42FE-A39A-B019F5E4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2152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实体硬件</a:t>
            </a:r>
          </a:p>
          <a:p xmlns:a="http://schemas.openxmlformats.org/drawingml/2006/main">
            <a:pPr algn="ctr">
              <a:def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眼神 / 表情 / 声音 / 触摸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E6C24-2F8D-4902-8DF2-F11F3784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6D597-E260-4158-9144-C9099BE2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57550"/>
            <a:ext cx="1295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用户关系</a:t>
            </a:r>
          </a:p>
          <a:p xmlns:a="http://schemas.openxmlformats.org/drawingml/2006/main">
            <a:pPr algn="ctr">
              <a:defRPr sz="9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长期互动与成长线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EB7B6-7181-4C42-8407-6A7885F9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576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30884-D635-45A7-84F8-22A7B8A6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576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DD0F6D-F9A0-4A56-91A0-969474B8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576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A76C9-C231-4899-86E9-A39A1308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DD4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DD4C7"/>
                </a:solidFill>
                <a:latin typeface="PingFang SC"/>
                <a:ea typeface="PingFang SC"/>
                <a:cs typeface="PingFang SC"/>
              </a:rPr>
              <a:t>核心判断：第一批产品不需要回答所有问题，只需要在 3-5 个高频陪伴场景里明显比“语音盒子”更像一个角色。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BA9B0-2BEE-4EE5-966C-027E1AE3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Product system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914F1-08E8-432F-9F63-90589699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91153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34D0DB-4D0B-4E39-A71B-F070246B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D066C-994E-4628-B5A8-425E21DC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C7B6D-01AE-4A69-8E7D-EAC4D491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111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1110"/>
                </a:solidFill>
                <a:latin typeface="Aptos"/>
                <a:ea typeface="Aptos"/>
                <a:cs typeface="Aptos"/>
              </a:rPr>
              <a:t>DEMO MOMENT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76E4C-A757-4D29-93DC-90F95860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191500" cy="788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投资人先看一个“回家 20 秒”的陪伴闭环。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09561-6043-40CE-AB1C-39DA5775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9658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46734-0A20-4096-8C31-ABD5EB49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9FA77-D553-419B-9911-7409583D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8B969-8F86-49B6-8162-0674268F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看见用户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A125A-DFB6-4F78-B2E7-95BFA3F6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视觉检测到用户进入视野，判断是熟悉的人。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051E2-EAAD-4FAC-9024-8755CCE5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71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019A4-5DCE-40A8-9F14-8A1A44D7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099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65BF7-0327-4F7D-A666-C3E798F9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38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调取记忆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4491B-7A72-4957-94BF-0D2F4F62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624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知道上次互动、最近疲惫、偏好的称呼和节奏。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884ED-D86A-4BC6-ABFA-5794C49E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71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D0F2F-A5EE-46AD-81BB-DB4D78B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99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111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21110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75A6B-09BA-4BEF-A9C4-7779C056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38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情绪生成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07757-3444-441C-A2AE-CA72A921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624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PAD 从平静到轻快，决定语速、眼神和动作幅度。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036AE-226D-4150-AC16-632A2FCC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48C7BC-EEA6-4BEF-8CFD-FE08703C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099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BB0C2-5487-4714-B236-588756B1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38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实体回应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C74CC-A87D-4598-AEE6-80715CD2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624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抬头、眨眼、轻声问候，必要时只做动作不说话。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163B3-71F6-45E0-B2E7-BD83DAB8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81625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CB14F-D840-4AE9-BC57-F9D2F8BB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95925"/>
            <a:ext cx="7772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可演示句式：</a:t>
            </a:r>
          </a:p>
          <a:p xmlns:a="http://schemas.openxmlformats.org/drawingml/2006/main">
            <a:pPr algn="ctr">
              <a:defRPr sz="120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“你今天回来比昨天晚一点。先别急着说话，我陪你坐一会儿。”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4A73CE-6D56-4D59-B330-9BD04C36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Demo should lead the pitch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A8DCC7-167C-4C3B-97A6-E0795E0E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81940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99D713-51DE-42D7-BCF1-A08A0ED2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EFCEE-D81B-492A-9572-3229187E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034B1-3942-4DAA-AECB-C9938C3C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1E6"/>
                </a:solidFill>
                <a:latin typeface="Aptos"/>
                <a:ea typeface="Aptos"/>
                <a:cs typeface="Aptos"/>
              </a:rPr>
              <a:t>TECHNICAL MOAT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F517A-8D9C-45D6-BF3A-7E4F143A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382000" cy="766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护城河不是“会聊天”，而是角色一致性的全链路控制。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F1E4C-C9FB-4CE4-B5A5-449425B4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原稿里的五层记忆、PAD 情绪、音色克隆和硬件映射，应该合并成一张可解释的技术壁垒图。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371D1-2F41-4ECC-9D04-EBD15D0A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1562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A483F-D52C-47D2-9DBA-5BAED446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1562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3E03F-F304-4DF0-8666-378B1341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624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五层记忆系统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EDE20-C813-44B0-BD78-3F56587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6CEC2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D6CEC2"/>
                </a:solidFill>
                <a:latin typeface="PingFang SC"/>
                <a:ea typeface="PingFang SC"/>
                <a:cs typeface="PingFang SC"/>
              </a:rPr>
              <a:t>identity / preference / event / relationship / private_state：让角色自然记得人、事和关系边界。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7E25B-8CE5-40FB-A0E7-D211C4F7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562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70B95-AE33-4A5D-B350-613FE850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562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5A29C-327E-4BBD-90F9-5F49C443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52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Memory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C9966-B561-4B16-93FD-0B9FBFE4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76700"/>
            <a:ext cx="1257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6CEC2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D6CEC2"/>
                </a:solidFill>
                <a:latin typeface="PingFang SC"/>
                <a:ea typeface="PingFang SC"/>
                <a:cs typeface="PingFang SC"/>
              </a:rPr>
              <a:t>敏感度、确认、儿童安全、审计和软删除，解决情感陪伴里的隐私与信任问题。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4A940-9488-4903-93D1-31F8659B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14700"/>
            <a:ext cx="15621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A7640-A4EF-46D5-A84A-42B67EF0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14700"/>
            <a:ext cx="1562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46DC1-8305-41F5-B87C-A706D2BB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PAD 连续情绪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D0F51-4E79-4835-9401-8674F3B6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67150"/>
            <a:ext cx="1257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6CEC2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D6CEC2"/>
                </a:solidFill>
                <a:latin typeface="PingFang SC"/>
                <a:ea typeface="PingFang SC"/>
                <a:cs typeface="PingFang SC"/>
              </a:rPr>
              <a:t>把开心/难过等标签变成三维连续坐标，控制声音、表情、动作的平滑过渡。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E0657-7BB7-4A54-BCB7-B5F95225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05150"/>
            <a:ext cx="1562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CF355-2512-4B72-8004-F35C0B11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05150"/>
            <a:ext cx="1562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21D56-9B39-40D9-97E7-53272252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337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TTS + 音色克隆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35677-D474-4B44-BFCF-5A4ABC80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5760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6CEC2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D6CEC2"/>
                </a:solidFill>
                <a:latin typeface="PingFang SC"/>
                <a:ea typeface="PingFang SC"/>
                <a:cs typeface="PingFang SC"/>
              </a:rPr>
              <a:t>角色专属声音、语气、呼吸感和语速变化，让 IP 不是“读台词”。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E4D8A-ED53-46A5-AD78-03DF6FE7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15621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28B7C2-B9D9-4831-A3AE-1B00F684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1562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48C7F9-EE2B-4365-9F4D-ADF1BA01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242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硬件动作映射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544C25-C57B-4067-A560-39DCB989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48050"/>
            <a:ext cx="1257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6CEC2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D6CEC2"/>
                </a:solidFill>
                <a:latin typeface="PingFang SC"/>
                <a:ea typeface="PingFang SC"/>
                <a:cs typeface="PingFang SC"/>
              </a:rPr>
              <a:t>眼神、眨眼、头部、LED、震动和物种动作由同一情绪状态驱动。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35A391-7E95-4A48-A0A2-FBC55DF0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0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05108D-A2F4-4086-827F-660B4833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投资人表达方式：这是一个可迁移到多角色、多 IP、多设备的“角色操作系统”，不是单款玩具功能清单。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1D1A69-346B-4A4E-96E0-270FC085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SoulForge shipped context: companion memory, policy engine, PAD and hardware mapping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78AEE9-994E-4D60-8BC5-7CF16587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26984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8EFC50-4AC7-4D4B-9B59-0A8D2E36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AC9B8-3731-46CA-B0BB-40D6F413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AB334-9927-4C3B-860B-FC4BC794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111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1110"/>
                </a:solidFill>
                <a:latin typeface="Aptos"/>
                <a:ea typeface="Aptos"/>
                <a:cs typeface="Aptos"/>
              </a:rPr>
              <a:t>HARDWARE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76EFF-400E-4DA8-AA2E-4A197272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191500" cy="744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硬件路线要从“舵机清单”升级成量产风险图。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06620-631E-43B9-9362-69DEFD50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695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3F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33F3A"/>
                </a:solidFill>
                <a:latin typeface="PingFang SC"/>
                <a:ea typeface="PingFang SC"/>
                <a:cs typeface="PingFang SC"/>
              </a:rPr>
              <a:t>投资人不只问能不能动，还会问成本、可靠性、售后和供应链。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3B33F-2297-4E2D-9287-5C06F7A0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7B74C-F740-424A-806F-5111105A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E057A-650A-42E5-8129-A3F601A4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rPr>
              <a:t>摄像头/触摸/麦克风</a:t>
            </a:r>
          </a:p>
          <a:p xmlns:a="http://schemas.openxmlformats.org/drawingml/2006/main">
            <a:pPr algn="l">
              <a:def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rPr>
              <a:t>识别用户、接近、情绪线索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7288D-8DA8-40C7-B7BF-97B29F92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718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6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D9BF6-5F22-47E2-BB68-6A523CE6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05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BCD72-0A98-496E-AFBE-9392FE4E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AI 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9AE13-14D2-496D-8B0C-C93AC7AA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433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rPr>
              <a:t>记忆检索</a:t>
            </a:r>
          </a:p>
          <a:p xmlns:a="http://schemas.openxmlformats.org/drawingml/2006/main">
            <a:pPr algn="l">
              <a:def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rPr>
              <a:t>PAD 情绪</a:t>
            </a:r>
          </a:p>
          <a:p xmlns:a="http://schemas.openxmlformats.org/drawingml/2006/main">
            <a:pPr algn="l">
              <a:def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rPr>
              <a:t>语音与动作决策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4CC9B-3F17-448F-B549-BEEC299B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718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6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90E69-6062-4CA0-84A7-EA9D1652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05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F14D3-7BC6-43FB-BBA6-E6A92CA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2AA5A-6F96-4E0F-B95B-85897DC3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433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rPr>
              <a:t>眼球/眼睑/眉毛/嘴巴</a:t>
            </a:r>
          </a:p>
          <a:p xmlns:a="http://schemas.openxmlformats.org/drawingml/2006/main">
            <a:pPr algn="l">
              <a:def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rPr>
              <a:t>头部云台/LED/震动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5CB03-DE05-4DDA-8F56-9B9C4290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718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6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C8CC8-A27A-4545-BBE1-CC88F7EA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05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5F851A-3518-4E75-B444-AAA53C34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194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量产门槛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A00E15-8B25-45CD-A491-5AFE642F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433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rPr>
              <a:t>BOM / 装配良率</a:t>
            </a:r>
          </a:p>
          <a:p xmlns:a="http://schemas.openxmlformats.org/drawingml/2006/main">
            <a:pPr algn="l">
              <a:def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43F39"/>
                </a:solidFill>
                <a:latin typeface="PingFang SC"/>
                <a:ea typeface="PingFang SC"/>
                <a:cs typeface="PingFang SC"/>
              </a:rPr>
              <a:t>续航 / 故障率 / 安规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B46B86-F2D7-4843-A651-D951E01E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10210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17E81-4FAA-434D-86C1-AF2B44E2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962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融资前必须补：1) 第一版样机视频；2) 目标 BOM 区间；3) 核心表情机构寿命测试；4) 小批量装配方案。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5AD78F-E69D-449B-BE33-D9495322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674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5B54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5B54"/>
                </a:solidFill>
                <a:latin typeface="PingFang SC"/>
                <a:ea typeface="PingFang SC"/>
                <a:cs typeface="PingFang SC"/>
              </a:rPr>
              <a:t>原稿中的舵机、RGB LED、两轴云台、耳朵/头饰小动作保留为输出组件，但不再作为主叙事。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98FD00-9507-4E38-90E2-12FB32F5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Hardware diligence page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FD29C6-D220-41B2-80AD-C25AF7C8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9685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8C5B5A-647E-48A0-9237-7F1E177F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25FE4-429A-4A91-88BE-B348C3F0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EC137-CE32-4360-87D4-0F7CC9CD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1E6"/>
                </a:solidFill>
                <a:latin typeface="Aptos"/>
                <a:ea typeface="Aptos"/>
                <a:cs typeface="Aptos"/>
              </a:rPr>
              <a:t>MARKET WEDGE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631E3-12D7-44A0-8490-B2A83499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858250" cy="744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第一阶段不要泛打“儿童玩具”，先打愿意为角色生命感付费的人。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E9741-5C84-4301-8E79-B0C277A7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建议把首款产品定义成 IP 角色实体化样机，而不是教育问答机。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BADD7-26B5-4616-B2BD-4491A5B4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人群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8D1B2-734B-4D10-A460-CAEED4F1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购买动机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352FE-CA3E-4B35-B8B9-4719A008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验证信号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BD4DF-B8C4-4052-92CF-6D447788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首款打法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7607A-F7B0-4C12-ACF6-ED2E9E70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51621-8884-4353-BBAA-41781BB3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929CF-61E0-43F9-B7EC-E3D84EDE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游戏/二次元 IP 粉丝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80AF5-9DD2-4CB9-9047-D629D455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908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rPr>
              <a:t>想把喜爱的角色带到现实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21DA2-C8FE-4CCD-B0B5-9E987D0A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rPr>
              <a:t>社媒二创、周边复购、预售转化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633B5-E1B8-4EFE-84BF-C212CA20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90875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rPr>
              <a:t>联名样机 / 限量预售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9543F-773C-49E4-9E5E-6AAD56DB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147C1-9E01-4A25-A20A-E610EDF8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潮玩收藏用户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64763-C103-4BFC-ADBC-5B7DAF8F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002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rPr>
              <a:t>情绪价值和稀缺感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F8A47-1CB0-4BBF-9117-1411B50A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1002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rPr>
              <a:t>盲盒/手办消费能力、渠道触达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B19B3-1194-4BA6-AA1A-689DCACC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0025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rPr>
              <a:t>静态收藏 + 动态陪伴升级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40DA9-859A-4E63-AD42-ECA4DBD3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F805E3-5A00-4837-A914-51D485DA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情感陪伴用户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EA91EF-68BF-4644-93DD-6EC8B7D9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291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rPr>
              <a:t>需要低压力陪伴和在场感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0D691F-3964-4E66-81AF-C60B1C80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291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rPr>
              <a:t>日活、互动时长、订阅留存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96960E-1EB5-4363-A12F-BCA6AC9A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29175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D6CEC2"/>
                </a:solidFill>
                <a:latin typeface="PingFang SC"/>
                <a:ea typeface="PingFang SC"/>
                <a:cs typeface="PingFang SC"/>
              </a:rPr>
              <a:t>非语言/轻语言 companion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8923DB-697F-4B65-BBF5-D0DA7F61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结论：先用强角色辨识度和真实陪伴体验拿到高意愿用户，再向儿童陪伴、教育、海外礼品扩展。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F3913F-77C1-4D87-B100-D7B524F3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Initial ICP and wedge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50A50D-8220-442A-A603-82C31E36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238208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5A8916-295E-44BD-B4A6-6A26833C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B6BDA-C364-4ABE-90F2-8663EEAB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B9BE0-62C4-468F-BF8E-9B163DF1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111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1110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8D703-6721-47D6-B128-CA7A56AD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572500" cy="744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商业模式不能只靠硬件：要把 IP、订阅和内容包连成复购。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97459-6460-4DE3-8D6D-91060CBA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14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3F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33F3A"/>
                </a:solidFill>
                <a:latin typeface="PingFang SC"/>
                <a:ea typeface="PingFang SC"/>
                <a:cs typeface="PingFang SC"/>
              </a:rPr>
              <a:t>下面是建议模型，具体数值需要用 BOM、预售和留存数据校准。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4D994-8049-4317-B5BB-39CF1DD9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524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9E621-7DCB-4B40-B2BC-B211399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硬件销售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2A92C-9E82-4909-A463-EA3B502F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1181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8F4EA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F8F4EA"/>
                </a:solidFill>
                <a:latin typeface="PingFang SC"/>
                <a:ea typeface="PingFang SC"/>
                <a:cs typeface="PingFang SC"/>
              </a:rPr>
              <a:t>首款消费级 AI 角色实体</a:t>
            </a:r>
          </a:p>
          <a:p xmlns:a="http://schemas.openxmlformats.org/drawingml/2006/main">
            <a:pPr algn="l">
              <a:defRPr sz="788" b="0">
                <a:solidFill>
                  <a:srgbClr val="F8F4EA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F8F4EA"/>
                </a:solidFill>
                <a:latin typeface="PingFang SC"/>
                <a:ea typeface="PingFang SC"/>
                <a:cs typeface="PingFang SC"/>
              </a:rPr>
              <a:t>目标：毛利覆盖获客与售后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AA604-5E66-4B77-BC1F-45AD13A0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813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CB8D7-5E9A-4582-B0D0-8D49310E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718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订阅服务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FEB53-5310-422C-BDA3-2E9EF9E7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33800"/>
            <a:ext cx="1847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8F4EA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F8F4EA"/>
                </a:solidFill>
                <a:latin typeface="PingFang SC"/>
                <a:ea typeface="PingFang SC"/>
                <a:cs typeface="PingFang SC"/>
              </a:rPr>
              <a:t>长期记忆、云端模型、个性成长线</a:t>
            </a:r>
          </a:p>
          <a:p xmlns:a="http://schemas.openxmlformats.org/drawingml/2006/main">
            <a:pPr algn="l">
              <a:defRPr sz="788" b="0">
                <a:solidFill>
                  <a:srgbClr val="F8F4EA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F8F4EA"/>
                </a:solidFill>
                <a:latin typeface="PingFang SC"/>
                <a:ea typeface="PingFang SC"/>
                <a:cs typeface="PingFang SC"/>
              </a:rPr>
              <a:t>目标：提升 LTV 和留存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0BB55-91A7-491E-A87E-AAF27F66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FE4C6-397A-4D39-A616-F46BFEBA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IP 分成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D9E11-3AC2-4342-88EB-54B3EC1D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33800"/>
            <a:ext cx="1276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D382F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3D382F"/>
                </a:solidFill>
                <a:latin typeface="PingFang SC"/>
                <a:ea typeface="PingFang SC"/>
                <a:cs typeface="PingFang SC"/>
              </a:rPr>
              <a:t>授权角色、声音、外观和内容更新</a:t>
            </a:r>
          </a:p>
          <a:p xmlns:a="http://schemas.openxmlformats.org/drawingml/2006/main">
            <a:pPr algn="l">
              <a:defRPr sz="788" b="0">
                <a:solidFill>
                  <a:srgbClr val="3D382F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3D382F"/>
                </a:solidFill>
                <a:latin typeface="PingFang SC"/>
                <a:ea typeface="PingFang SC"/>
                <a:cs typeface="PingFang SC"/>
              </a:rPr>
              <a:t>目标：降低 IP 方合作门槛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A3293-7F5A-4C9F-8B49-52C6A87A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8BFFA-275F-4567-BB44-E19BE151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718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内容包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34B96-029D-4EDD-BBF2-5194BA44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33800"/>
            <a:ext cx="895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8F4EA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F8F4EA"/>
                </a:solidFill>
                <a:latin typeface="PingFang SC"/>
                <a:ea typeface="PingFang SC"/>
                <a:cs typeface="PingFang SC"/>
              </a:rPr>
              <a:t>节日台词、剧情线、限定动作/音色</a:t>
            </a:r>
          </a:p>
          <a:p xmlns:a="http://schemas.openxmlformats.org/drawingml/2006/main">
            <a:pPr algn="l">
              <a:defRPr sz="788" b="0">
                <a:solidFill>
                  <a:srgbClr val="F8F4EA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F8F4EA"/>
                </a:solidFill>
                <a:latin typeface="PingFang SC"/>
                <a:ea typeface="PingFang SC"/>
                <a:cs typeface="PingFang SC"/>
              </a:rPr>
              <a:t>目标：轻量复购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B074FC-8C83-4127-AF8C-9EF44C29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8801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5EC16-7DB0-4743-A65A-7985A79F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收入桥：一次性硬件利润 → 月度订阅 → IP/内容分成 → 多角色复购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195E3-DC8D-4BA4-91E7-DB621FC7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149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D3D1D-4973-431E-AB8F-1DAE8B4A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054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下一轮投资人会重点看：留存、退货率、订阅转化和单台售后成本。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3689A8-CFE5-427D-8348-0B6E0955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817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8178"/>
                </a:solidFill>
                <a:latin typeface="PingFang SC"/>
                <a:ea typeface="PingFang SC"/>
                <a:cs typeface="PingFang SC"/>
              </a:rPr>
              <a:t>行业报道普遍把 AI 潮玩商业化描述为“硬件+订阅”，但早期产品仍需用真实留存证明可持续。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F5B76-4BFE-4933-A5BF-0AFA5917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Monetization bridge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097D63-89E1-48E1-BDF7-074B8C1F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114123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48D8B3-3E43-4C0B-8516-71F8EF92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578EC-B443-48DC-968E-F0A91F2E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DE510-8555-466A-A216-46F1C764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1E6"/>
                </a:solidFill>
                <a:latin typeface="Aptos"/>
                <a:ea typeface="Aptos"/>
                <a:cs typeface="Aptos"/>
              </a:rPr>
              <a:t>COMPETITIVE LANDSCAPE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BC09F-B8F5-4E8A-AB90-E0A3A6E7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953500" cy="744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把竞品对比从“没有竞品”改成“不同维度尚未同时成立”。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F20F1-A19B-4130-AE39-0305E402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投资人不相信没有竞品；更好的说法是：现有方案通常只解决语音、机芯或高价仿生中的一部分。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7F3EF-A2DA-4641-B61A-9C8526A1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76500"/>
            <a:ext cx="8191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5"/>
          </a:solidFill>
          <a:ln xmlns:a="http://schemas.openxmlformats.org/drawingml/2006/main" w="9525">
            <a:solidFill>
              <a:srgbClr val="4A43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E4C30-4080-43E0-A460-FB7D7F4B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7650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ADCC5-E4F7-41E9-AF40-6A36B775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7EC22-DB32-4F72-A916-8FEE1229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959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A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DB4AA"/>
                </a:solidFill>
                <a:latin typeface="PingFang SC"/>
                <a:ea typeface="PingFang SC"/>
                <a:cs typeface="PingFang SC"/>
              </a:rPr>
              <a:t>角色/IP 一致性 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AAF13-E923-4C9F-A4D6-0D340DF4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A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DB4AA"/>
                </a:solidFill>
                <a:latin typeface="PingFang SC"/>
                <a:ea typeface="PingFang SC"/>
                <a:cs typeface="PingFang SC"/>
              </a:rPr>
              <a:t>实体表达深度 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A95EF-4892-45B9-9E54-FE9DCE8F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43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81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6A89F-8D55-4B82-A2FF-22511BAC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7148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普通对话盒子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BBB2C-0C8E-4E9B-BD3A-A695234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D5B24-BFF8-4513-BE19-39D260E8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19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Fuzozo / AI 毛绒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F7E53-CF29-4335-A3B0-C068F2EE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C288B-C484-4963-A2E0-925A504F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03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高价仿生机器人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8BC80-F862-4E63-9853-56DEC61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CF11FB-3881-4C7D-B900-7D452C17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003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SoulForge 目标位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FD178-BE93-4C1D-AF15-54A30BFA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E0CD7-1ECA-40EB-B86F-A23FB17A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2442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D166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静态潮玩/IP 周边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E4BEA-616F-43FC-9D1A-AD5EE9D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293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目标不是否定 Fuzozo，而是证明 SoulForge 在“角色一致性 + 长期记忆 + 表情动作联动”上形成更强体验。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078C6B-9B6F-4449-A0EF-CA719CC9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F877D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F877D"/>
                </a:solidFill>
                <a:latin typeface="PingFang SC"/>
                <a:ea typeface="PingFang SC"/>
                <a:cs typeface="PingFang SC"/>
              </a:rPr>
              <a:t>竞品位置为基于公开资料的定性判断，需后续通过拆解、用户访谈和对比测试验证。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413AB-F811-4691-8FFE-B37CFFC6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Competition map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AD04C8-F6A1-472F-854C-73DCCB20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038184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63FA88-4236-43AD-B40E-E71C28BD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74DA5-4F3C-49CF-939C-4CA11444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B0FC5-97DF-40E1-BC07-1FC37C59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111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1110"/>
                </a:solidFill>
                <a:latin typeface="Aptos"/>
                <a:ea typeface="Aptos"/>
                <a:cs typeface="Aptos"/>
              </a:rPr>
              <a:t>GROWTH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16FE1-AEFE-41EE-BB86-3BA9B343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744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增长不靠一次发布会，而靠角色内容、用户关系和二创持续滚动。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09A3E-9608-496F-BA40-A5DBEB25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52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3F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33F3A"/>
                </a:solidFill>
                <a:latin typeface="PingFang SC"/>
                <a:ea typeface="PingFang SC"/>
                <a:cs typeface="PingFang SC"/>
              </a:rPr>
              <a:t>这页是投资人要看的 reach → activation → engagement → monetization → retention。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DA98E-6906-4771-942F-7D7924BE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46393-0A3B-4714-A308-412032E2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8125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短视频 Demo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角色“活了”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3C477-C904-4F29-99E7-1A54EA05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670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AB990-F7C3-46F9-9BED-DF36354E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135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IP 社群种草</a:t>
            </a:r>
          </a:p>
          <a:p xmlns:a="http://schemas.openxmlformats.org/drawingml/2006/main">
            <a:pPr algn="ctr">
              <a:defRPr sz="9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限定预售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0768A-9D86-40A8-BE6A-CD3E0491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A1C70-B120-484C-88DE-22D3EA72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3400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开箱与绑定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声音/记忆初始化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4C983-4716-478D-AE56-788009CA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197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FA8AF-9965-4E2D-BE4C-5625FDAA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33400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日常陪伴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互动数据沉淀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AE452-FF53-4408-97B5-966BEC3C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670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461C1-93F2-45D2-B85B-63D5B784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8135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内容更新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剧情/动作/音色包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E4414-8DFA-4FFE-8C1B-907D5D4E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24150"/>
            <a:ext cx="1924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F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D1BBD-070D-41BB-9B6D-FA329BBE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-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F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04F65-CBEC-43C3-B5CF-6E5CDE2F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19700"/>
            <a:ext cx="-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F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68DEA6-C10B-4DED-AE30-A296CD9C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562600"/>
            <a:ext cx="-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F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67CB55-5EF2-4E96-AB92-7B991D91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F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E9CEF-1854-4CDD-A5E8-71AEBC5B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671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429FF-9717-42C3-8C20-51E721D7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528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每个用户都让角色</a:t>
            </a:r>
          </a:p>
          <a:p xmlns:a="http://schemas.openxmlformats.org/drawingml/2006/main">
            <a:pPr algn="l">
              <a:def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更像“我的那一个”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9B48C-5EFA-4DF8-A3F3-BEC83A88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1505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首批 KPI：预售转化、激活率、7/30 日留存、订阅转化、退货率。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B41917-0532-4891-A07B-96898A0E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GTM loop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FF4BDE-E67F-4A7F-AA8A-DB549636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60871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D94339-4E1F-4A4B-A305-3B0BFA1F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C9701-2117-441C-A112-AE3B9E57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D65A2-60B5-4F57-B5F1-E925C60F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1E6"/>
                </a:solidFill>
                <a:latin typeface="Aptos"/>
                <a:ea typeface="Aptos"/>
                <a:cs typeface="Aptos"/>
              </a:rPr>
              <a:t>18-MONTH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F07D4-2C27-4749-8868-406CBCD9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715500" cy="744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本轮钱买的是样机、供应链、小批量和首批留存，而不是更完整的概念。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BB356-B33E-476A-A1A7-3CB8BF4C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建议把路线图写成可验收里程碑，方便投资人判断下一轮融资条件。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C8131-ABD2-4A8F-AD89-28D2D332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190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72852-C77A-43F1-A3F5-EADA5B6A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35A99-C6C5-4E45-A85A-377AF022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5A4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5A47"/>
                </a:solidFill>
                <a:latin typeface="PingFang SC"/>
                <a:ea typeface="PingFang SC"/>
                <a:cs typeface="PingFang SC"/>
              </a:rPr>
              <a:t>0-3 个月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0777E-449E-4B60-A233-BA784714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外观与表情样机</a:t>
            </a:r>
          </a:p>
          <a:p xmlns:a="http://schemas.openxmlformats.org/drawingml/2006/main">
            <a:pPr algn="l">
              <a:def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核心交互 Demo</a:t>
            </a:r>
          </a:p>
          <a:p xmlns:a="http://schemas.openxmlformats.org/drawingml/2006/main">
            <a:pPr algn="l">
              <a:def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BOM 初版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E0AA1-6A3D-4F20-AF2B-0D689ECB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5F37A-C8D3-45F9-9113-7927116B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190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2A306-BEB8-4130-9C41-892E5C50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3FA04-4415-404D-BB71-829E7FCC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C9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0C9B8"/>
                </a:solidFill>
                <a:latin typeface="PingFang SC"/>
                <a:ea typeface="PingFang SC"/>
                <a:cs typeface="PingFang SC"/>
              </a:rPr>
              <a:t>3-6 个月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15304-D7E7-4585-8C36-E1BBAAAE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0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EVT 工程样机</a:t>
            </a:r>
          </a:p>
          <a:p xmlns:a="http://schemas.openxmlformats.org/drawingml/2006/main">
            <a:pPr algn="l">
              <a:def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20-50 人内测</a:t>
            </a:r>
          </a:p>
          <a:p xmlns:a="http://schemas.openxmlformats.org/drawingml/2006/main">
            <a:pPr algn="l">
              <a:def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IP 合作意向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005AB-BF86-4E6E-B25D-F8785346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338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C1AEA-7148-423B-AF36-E0F162E0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2190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E39E4-725B-42FF-B851-9D9CD999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1B99D-5D35-4A4E-AAFD-99653E39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1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6-12 个月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9F3DC-EA9B-4BE7-A757-B2819C04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DVT 小批量</a:t>
            </a:r>
          </a:p>
          <a:p xmlns:a="http://schemas.openxmlformats.org/drawingml/2006/main">
            <a:pPr algn="l">
              <a:def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500-3000 台预售/试产</a:t>
            </a:r>
          </a:p>
          <a:p xmlns:a="http://schemas.openxmlformats.org/drawingml/2006/main">
            <a:pPr algn="l">
              <a:def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订阅留存验证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FFAE6-FF55-437C-A3E6-D7A91F83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338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59EA12-33D3-4B86-A877-8B686405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2190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F4ECA-589E-47E7-A94F-B554D57C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5C2AB-30C3-4FCD-81D2-EC8100A9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D4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5D46E"/>
                </a:solidFill>
                <a:latin typeface="PingFang SC"/>
                <a:ea typeface="PingFang SC"/>
                <a:cs typeface="PingFang SC"/>
              </a:rPr>
              <a:t>12-18 个月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04969B-3DC0-41F5-AA52-063E9C28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00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PVT 与渠道</a:t>
            </a:r>
          </a:p>
          <a:p xmlns:a="http://schemas.openxmlformats.org/drawingml/2006/main">
            <a:pPr algn="l">
              <a:def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1-2 个授权/联名</a:t>
            </a:r>
          </a:p>
          <a:p xmlns:a="http://schemas.openxmlformats.org/drawingml/2006/main">
            <a:pPr algn="l">
              <a:def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准备下一轮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97BE9-67E8-4722-9B41-B6271496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673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D480E5-5601-444A-9A22-F7342387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102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硬件/供应链 30%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D2625D-A2F3-4AD2-B976-4445D704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467350"/>
            <a:ext cx="2143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4E8286-2690-431C-BBD9-0AECB63E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810250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AI 引擎/云成本 25%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318057-648F-473F-B6D2-E3BC54B0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46735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BD7637-EE00-4FBC-B6C4-71BB869E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810250"/>
            <a:ext cx="1590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IP/内容/音色 15%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830DB5-D046-4B43-98C4-465C86BF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6735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0A9DFB-2627-4C11-BE86-2B6A420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810250"/>
            <a:ext cx="1590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小批量/认证 15%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48D84A-C226-4BB0-826B-3D5157EF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46735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7DD5E4-87BF-41E8-A316-C04BA6BF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810250"/>
            <a:ext cx="1590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GTM/社区/缓冲 15%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21E413-7FEF-4488-9B86-B3EA2B1B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建议资金用途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D04D7F-7429-4C3C-8BE8-EFB0C9E8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Milestones and use of funds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2F3E63-860E-45DC-9362-6E93BFF1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6946561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AE5363-7C50-4C9B-B495-5DBE70B3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A23F0-8397-49EB-B092-E31D6FB1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F6256-E9C3-4E76-BF0E-108A0B1F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111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1110"/>
                </a:solidFill>
                <a:latin typeface="Aptos"/>
                <a:ea typeface="Aptos"/>
                <a:cs typeface="Aptos"/>
              </a:rPr>
              <a:t>FINANCING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05490-3FAC-4A53-A2EE-6D236664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744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融资方案：先按种子轮叙事准备，同时保留天使+轻量选项。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0AAC1-52A8-4A45-93C9-929491CD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3F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33F3A"/>
                </a:solidFill>
                <a:latin typeface="PingFang SC"/>
                <a:ea typeface="PingFang SC"/>
                <a:cs typeface="PingFang SC"/>
              </a:rPr>
              <a:t>所有金额是路演讨论建议，不是最终条款；应随样机、IP 进展和预售数据调整。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180F8-227B-40CD-90D7-DC10DABD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DD4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BC47D-8655-4375-A896-0BC4B111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38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679F1-47B6-4552-BD1D-EEDB400C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方案 A：天使+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A68E8-D8EF-4EB0-8504-75DD4B59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4610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融资 500-800 万人民币；用 6-9 个月交付可演示样机、BOM 初版、20-50 名种子用户测试和 IP 合作意向。适合样机/团队仍需补齐时。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C192A-EFC3-48C1-994D-46BFAE8D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9525">
            <a:solidFill>
              <a:srgbClr val="12111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06DD1-74D6-4642-A248-861E1A9D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38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A796C-CDDF-42B2-A88F-9165615E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方案 B：机构种子轮（推荐路演主线）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C6F78-F921-46C6-9634-426BBE99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610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rPr>
              <a:t>融资 1500-2500 万人民币；资金周期 12-18 个月；目标跑完 EVT/DVT、小批量预售、订阅留存和 1-2 个授权/联名合作。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20CBE-50A5-465A-91AF-160BA6E8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下一轮前必须交付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BFA97-0ECC-4665-BB4A-D274FC57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008E2-6075-4DD4-8CFF-CF783212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F4444-8658-4B1F-9880-9AB951CF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816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样机视频与现场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00F108-1003-4B8A-8DF4-38992D72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00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21DFD-DE5F-432F-BDCA-AD83D1C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816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目标 BOM 与毛利模型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FCF45C-C749-4327-8563-9E36259A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600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A37D73-2767-4940-BE78-DBB11035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5816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种子用户留存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00AAB-CA4C-4CB0-A444-76152EE8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00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E8FCB-E9FD-41BB-B66F-89E4A809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816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IP/渠道 LOI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FA2C87-AFB7-4E76-9701-C13B2130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00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507AE-0ACA-4A17-944D-349521A6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5816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退货/售后数据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BD9323-1CD0-4CC9-842C-D15F47E4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Recommended ask and next-round milestones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666B5B-C14C-4A88-A492-614B3BED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78700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2026-06-10T06:58:11.5130000Z</dcterms:created>
  <dcterms:modified xsi:type="dcterms:W3CDTF">2026-06-10T06:58:11.5130000Z</dcterms:modified>
</coreProperties>
</file>