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64343315c4369" /><Relationship Type="http://schemas.openxmlformats.org/officeDocument/2006/relationships/extended-properties" Target="/docProps/app.xml" Id="R95052b3b0d34419e" /><Relationship Type="http://schemas.openxmlformats.org/officeDocument/2006/relationships/officeDocument" Target="/ppt/presentation.xml" Id="R2a1b3f4625664d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036b74b32947aa"/>
  </p:sldMasterIdLst>
  <p:notesMasterIdLst>
    <p:notesMasterId xmlns:r="http://schemas.openxmlformats.org/officeDocument/2006/relationships" r:id="Re96978c99e374836"/>
  </p:notesMasterIdLst>
  <p:sldIdLst>
    <p:sldId xmlns:r="http://schemas.openxmlformats.org/officeDocument/2006/relationships" id="256" r:id="Rd9fa0d9e941f46c6"/>
    <p:sldId xmlns:r="http://schemas.openxmlformats.org/officeDocument/2006/relationships" id="257" r:id="R8a6e21cda830487d"/>
    <p:sldId xmlns:r="http://schemas.openxmlformats.org/officeDocument/2006/relationships" id="258" r:id="R0ece4c2c19684154"/>
    <p:sldId xmlns:r="http://schemas.openxmlformats.org/officeDocument/2006/relationships" id="259" r:id="Rca27b17a5b004d0f"/>
    <p:sldId xmlns:r="http://schemas.openxmlformats.org/officeDocument/2006/relationships" id="260" r:id="R7e360c5a07fe4dfd"/>
    <p:sldId xmlns:r="http://schemas.openxmlformats.org/officeDocument/2006/relationships" id="261" r:id="R4a8cb5e4f91c424f"/>
    <p:sldId xmlns:r="http://schemas.openxmlformats.org/officeDocument/2006/relationships" id="262" r:id="Ra25934deaab345df"/>
    <p:sldId xmlns:r="http://schemas.openxmlformats.org/officeDocument/2006/relationships" id="263" r:id="R169b1472030b416f"/>
    <p:sldId xmlns:r="http://schemas.openxmlformats.org/officeDocument/2006/relationships" id="264" r:id="R89d02aba2ac54065"/>
    <p:sldId xmlns:r="http://schemas.openxmlformats.org/officeDocument/2006/relationships" id="265" r:id="R76341054daaa464d"/>
    <p:sldId xmlns:r="http://schemas.openxmlformats.org/officeDocument/2006/relationships" id="266" r:id="Rc0d8fc6eea754f45"/>
    <p:sldId xmlns:r="http://schemas.openxmlformats.org/officeDocument/2006/relationships" id="267" r:id="R1c8eec5823b142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382d74e23d48c7" /><Relationship Type="http://schemas.openxmlformats.org/officeDocument/2006/relationships/slideMaster" Target="/ppt/slideMasters/slideMaster1.xml" Id="Rca036b74b32947aa" /><Relationship Type="http://schemas.openxmlformats.org/officeDocument/2006/relationships/notesMaster" Target="/ppt/notesMasters/notesMaster1.xml" Id="Re96978c99e374836" /><Relationship Type="http://schemas.openxmlformats.org/officeDocument/2006/relationships/presProps" Target="/ppt/presProps.xml" Id="Rfb2c513919244f09" /><Relationship Type="http://schemas.openxmlformats.org/officeDocument/2006/relationships/viewProps" Target="/ppt/viewProps.xml" Id="R8fdc011af9734a20" /><Relationship Type="http://schemas.openxmlformats.org/officeDocument/2006/relationships/tableStyles" Target="/ppt/tableStyles.xml" Id="Rc1d531e4decc4c87" /><Relationship Type="http://schemas.openxmlformats.org/officeDocument/2006/relationships/slide" Target="/ppt/slides/slide1.xml" Id="Rd9fa0d9e941f46c6" /><Relationship Type="http://schemas.openxmlformats.org/officeDocument/2006/relationships/slide" Target="/ppt/slides/slide2.xml" Id="R8a6e21cda830487d" /><Relationship Type="http://schemas.openxmlformats.org/officeDocument/2006/relationships/slide" Target="/ppt/slides/slide3.xml" Id="R0ece4c2c19684154" /><Relationship Type="http://schemas.openxmlformats.org/officeDocument/2006/relationships/slide" Target="/ppt/slides/slide4.xml" Id="Rca27b17a5b004d0f" /><Relationship Type="http://schemas.openxmlformats.org/officeDocument/2006/relationships/slide" Target="/ppt/slides/slide5.xml" Id="R7e360c5a07fe4dfd" /><Relationship Type="http://schemas.openxmlformats.org/officeDocument/2006/relationships/slide" Target="/ppt/slides/slide6.xml" Id="R4a8cb5e4f91c424f" /><Relationship Type="http://schemas.openxmlformats.org/officeDocument/2006/relationships/slide" Target="/ppt/slides/slide7.xml" Id="Ra25934deaab345df" /><Relationship Type="http://schemas.openxmlformats.org/officeDocument/2006/relationships/slide" Target="/ppt/slides/slide8.xml" Id="R169b1472030b416f" /><Relationship Type="http://schemas.openxmlformats.org/officeDocument/2006/relationships/slide" Target="/ppt/slides/slide9.xml" Id="R89d02aba2ac54065" /><Relationship Type="http://schemas.openxmlformats.org/officeDocument/2006/relationships/slide" Target="/ppt/slides/slide10.xml" Id="R76341054daaa464d" /><Relationship Type="http://schemas.openxmlformats.org/officeDocument/2006/relationships/slide" Target="/ppt/slides/slide11.xml" Id="Rc0d8fc6eea754f45" /><Relationship Type="http://schemas.openxmlformats.org/officeDocument/2006/relationships/slide" Target="/ppt/slides/slide12.xml" Id="R1c8eec5823b142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369125f237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32c9b1de94d1e" /><Relationship Type="http://schemas.openxmlformats.org/officeDocument/2006/relationships/notesMaster" Target="/ppt/notesMasters/notesMaster1.xml" Id="R607c0f5aa2bf4b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ba7d4ed5964e46" /><Relationship Type="http://schemas.openxmlformats.org/officeDocument/2006/relationships/notesMaster" Target="/ppt/notesMasters/notesMaster1.xml" Id="Rc62afc0ed2dc4d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7f3b4c87a4ef7" /><Relationship Type="http://schemas.openxmlformats.org/officeDocument/2006/relationships/notesMaster" Target="/ppt/notesMasters/notesMaster1.xml" Id="Rd46f98f6b539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bf919c19484f65" /><Relationship Type="http://schemas.openxmlformats.org/officeDocument/2006/relationships/notesMaster" Target="/ppt/notesMasters/notesMaster1.xml" Id="Rd9c4f06c4ead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501014bdd4b34" /><Relationship Type="http://schemas.openxmlformats.org/officeDocument/2006/relationships/notesMaster" Target="/ppt/notesMasters/notesMaster1.xml" Id="Rd33192d15c64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ec78adb9154edd" /><Relationship Type="http://schemas.openxmlformats.org/officeDocument/2006/relationships/notesMaster" Target="/ppt/notesMasters/notesMaster1.xml" Id="R0de49599061b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86aed1da314cd0" /><Relationship Type="http://schemas.openxmlformats.org/officeDocument/2006/relationships/notesMaster" Target="/ppt/notesMasters/notesMaster1.xml" Id="R6b0cbb4ab8ef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57a14c4fce40f2" /><Relationship Type="http://schemas.openxmlformats.org/officeDocument/2006/relationships/notesMaster" Target="/ppt/notesMasters/notesMaster1.xml" Id="R749194c7081946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80e04a1ce8478b" /><Relationship Type="http://schemas.openxmlformats.org/officeDocument/2006/relationships/notesMaster" Target="/ppt/notesMasters/notesMaster1.xml" Id="R78174a18c6e64a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4b5cd7f93a4c35" /><Relationship Type="http://schemas.openxmlformats.org/officeDocument/2006/relationships/notesMaster" Target="/ppt/notesMasters/notesMaster1.xml" Id="Rd006e5273b0845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64fdeb5624c2a" /><Relationship Type="http://schemas.openxmlformats.org/officeDocument/2006/relationships/notesMaster" Target="/ppt/notesMasters/notesMaster1.xml" Id="Ra46ef496dc1344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8e91c5bf0e4e8b" /><Relationship Type="http://schemas.openxmlformats.org/officeDocument/2006/relationships/notesMaster" Target="/ppt/notesMasters/notesMaster1.xml" Id="R9edcd32ef9c1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7a154a043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426f63c884012" /><Relationship Type="http://schemas.openxmlformats.org/officeDocument/2006/relationships/slideLayout" Target="/ppt/slideLayouts/slideLayout1.xml" Id="R8e135b2b4d954b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135b2b4d954b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6eb1aae1b4831" /><Relationship Type="http://schemas.openxmlformats.org/officeDocument/2006/relationships/notesSlide" Target="/ppt/notesSlides/notesSlide1.xml" Id="R1069855d4b634a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522f0f5a6478e" /><Relationship Type="http://schemas.openxmlformats.org/officeDocument/2006/relationships/notesSlide" Target="/ppt/notesSlides/notesSlide2.xml" Id="R511dd8115d48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f9dcfd7a64016" /><Relationship Type="http://schemas.openxmlformats.org/officeDocument/2006/relationships/notesSlide" Target="/ppt/notesSlides/notesSlide3.xml" Id="Rd4234e5d49a1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232b42710435d" /><Relationship Type="http://schemas.openxmlformats.org/officeDocument/2006/relationships/notesSlide" Target="/ppt/notesSlides/notesSlide4.xml" Id="Ra6b5239373534b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126b160d1466c" /><Relationship Type="http://schemas.openxmlformats.org/officeDocument/2006/relationships/notesSlide" Target="/ppt/notesSlides/notesSlide5.xml" Id="R100df0fe9fc849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9ed3857584e90" /><Relationship Type="http://schemas.openxmlformats.org/officeDocument/2006/relationships/notesSlide" Target="/ppt/notesSlides/notesSlide6.xml" Id="Re038165ec01948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807aa85f74dc5" /><Relationship Type="http://schemas.openxmlformats.org/officeDocument/2006/relationships/notesSlide" Target="/ppt/notesSlides/notesSlide7.xml" Id="R7ae3d2ba86424c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a6611d5434346" /><Relationship Type="http://schemas.openxmlformats.org/officeDocument/2006/relationships/notesSlide" Target="/ppt/notesSlides/notesSlide8.xml" Id="R2d04703c689649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e0f7c35a9439c" /><Relationship Type="http://schemas.openxmlformats.org/officeDocument/2006/relationships/notesSlide" Target="/ppt/notesSlides/notesSlide9.xml" Id="R3b8ee073c80646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9a7ff61bd4a99" /><Relationship Type="http://schemas.openxmlformats.org/officeDocument/2006/relationships/notesSlide" Target="/ppt/notesSlides/notesSlide10.xml" Id="R91c2d4cdda034e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1db4c589a4e9e" /><Relationship Type="http://schemas.openxmlformats.org/officeDocument/2006/relationships/notesSlide" Target="/ppt/notesSlides/notesSlide11.xml" Id="Rf6a1a7c102934a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f9a3117fc445e" /><Relationship Type="http://schemas.openxmlformats.org/officeDocument/2006/relationships/notesSlide" Target="/ppt/notesSlides/notesSlide12.xml" Id="R5f9a2f39307f4d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BAE06-6EFA-42FC-BAAD-2CBC382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8C0C8-D04B-4C5A-873A-CBFEE340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470F-1CBF-40B9-8556-60C500D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ANGEL+ FINANCING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02C39-9A01-47BC-9955-3DC9328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9201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SoulForge：把 AI 角色装进真实玩具身体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E64CE-AABA-4DD7-8CD1-DAD7256D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95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已跑通软件陪伴管线，下一阶段用天使+融资交付可录屏样机、硬件 BOM 和首批种子用户数据。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675E8-A5E8-4DDB-82CA-CF6B293C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19200"/>
            <a:ext cx="2060258" cy="26489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4D7"/>
          </a:solidFill>
          <a:ln xmlns:a="http://schemas.openxmlformats.org/drawingml/2006/main" w="19050">
            <a:solidFill>
              <a:srgbClr val="5A52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CE0A6-9CCE-45F2-9249-FD39CCB5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1959" y="2121789"/>
            <a:ext cx="412052" cy="4709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E2C25-3397-41E8-AE1F-76C11C26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2121789"/>
            <a:ext cx="412052" cy="4709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1D064-A83D-42CA-9A3B-86AF61C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120" y="2278761"/>
            <a:ext cx="117729" cy="117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A434F-A2CE-486A-B778-84B16FB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709" y="2278761"/>
            <a:ext cx="117729" cy="117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A4D7E-17F3-4453-9E69-5128AE4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53" y="2906649"/>
            <a:ext cx="412052" cy="117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E7755-6E64-4271-BF2D-04A321E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176" y="2769299"/>
            <a:ext cx="353187" cy="1962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710AD-9D64-4513-B4AC-B56D202F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005" y="2769299"/>
            <a:ext cx="353187" cy="1962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2B9E6-DE84-404F-9602-1ACD3EB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987" y="964121"/>
            <a:ext cx="470916" cy="784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4D7"/>
          </a:solidFill>
          <a:ln xmlns:a="http://schemas.openxmlformats.org/drawingml/2006/main" w="19050">
            <a:solidFill>
              <a:srgbClr val="5A52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693EF-CAD3-44AA-B344-AE0E68A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655" y="964121"/>
            <a:ext cx="470916" cy="784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4D7"/>
          </a:solidFill>
          <a:ln xmlns:a="http://schemas.openxmlformats.org/drawingml/2006/main" w="19050">
            <a:solidFill>
              <a:srgbClr val="5A52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CFBD4-E25C-481F-9DFC-C0C5623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6373F-E980-4C39-BC9C-EDD39F7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C6BF2-8AC0-494C-ACF9-4ED09468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AI companion for IP characters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931BB-0A11-49E7-95EB-2A584F37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D4C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DD4C7"/>
                </a:solidFill>
                <a:latin typeface="PingFang SC"/>
                <a:ea typeface="PingFang SC"/>
                <a:cs typeface="PingFang SC"/>
              </a:rPr>
              <a:t>不是“会说话的毛绒”，而是角色人格、声音、记忆、情绪和硬件表达的一体化系统。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6F0C4-3A2D-4F1A-B7A5-68646E74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99A38-E5BC-4333-926C-AB067F93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5A4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5A47"/>
                </a:solidFill>
                <a:latin typeface="Aptos Display"/>
                <a:ea typeface="Aptos Display"/>
                <a:cs typeface="Aptos Display"/>
              </a:rPr>
              <a:t>500-800万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38872-411F-4F28-98F3-73E7C6C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rPr>
              <a:t>本轮融资额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C9BBA-AB95-4459-A522-1B80C090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A0EA3-9F3C-44FD-A549-F5274009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29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C9B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C9B8"/>
                </a:solidFill>
                <a:latin typeface="Aptos Display"/>
                <a:ea typeface="Aptos Display"/>
                <a:cs typeface="Aptos Display"/>
              </a:rPr>
              <a:t>9-12个月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9BA2C-401B-4117-B8F1-931D279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72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rPr>
              <a:t>资金覆盖周期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EABFB-3264-4D28-A7EA-468D3620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E001D-40A0-47A8-9E43-3B6F179F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29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Demo+BOM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57497-6372-4AF8-8832-B459DBC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372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FC6BB"/>
                </a:solidFill>
                <a:latin typeface="PingFang SC"/>
                <a:ea typeface="PingFang SC"/>
                <a:cs typeface="PingFang SC"/>
              </a:rPr>
              <a:t>下一轮前核心交付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D5BA3-4868-4E79-910B-57602672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SoulForge / AI 潮玩天使轮路演修正版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C2EF1-BB39-4A09-BF1D-BDCBDEE1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16048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855E1-AD3A-462B-A59A-2E4AA23E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C809-CC54-4826-9947-EE44B13C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FB24C-10DC-4E09-A433-DA9F104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D1407-0640-45C0-9EA9-6BB20ECE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191500" cy="832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IP 的情绪价值还停在屏幕和静态周边里。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239E0-E318-4B51-961F-99BA8DCD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用户愿意为角色买单，但现有消费载体大多只能收藏、观看或短时互动，缺少长期陪伴关系。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0111D-9258-414E-B523-B9E9610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A787-DE37-49B5-8ABB-40DD2DBE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38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E4AC5-3ADE-49F6-B839-3E4E6BD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静态潮玩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8DA7A-7755-427E-9FD2-9EA47E2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800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有收藏价值和身份表达，但角色不会认识用户，也不会在日常生活里回应。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97DF9-E6B4-4E27-8E5B-3E39C20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E20C2-B51B-43CF-A5BB-E302B1A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38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F00B-40CE-4CB6-800D-5F9B983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普通 AI 玩具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B94F7-87AD-474B-B726-EB7F181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2800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能聊天，但体验常退回泛问答；角色语气、声音、记忆和身体反应不稳定。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E22A5-9A3B-4F01-91E6-868E0B08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9525">
            <a:solidFill>
              <a:srgbClr val="1211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A0679-D28A-4E51-B3D5-E2A000E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38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2218A-61BA-4449-A690-F7771DEE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SoulForge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10D69-9DAD-4E0F-9FAC-281FBC30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2800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先把角色一致性跑通，再接入实体硬件，让用户感觉面对的是“同一个角色”。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78409-EA0D-4C5A-AAD0-09F87888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rPr>
              <a:t>行业信号：AI 玩具与潮玩融合热度上升，但公开讨论同时集中在延迟、互动浅、售后和产品生命周期风险。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BD518-94C5-405C-9D2E-C622A9D3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179D1-3816-4EDD-AB55-D54FD873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31297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68D58-6FAE-4F0A-8F2D-7D995FA1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D6821-0460-45F3-B8D1-BF3F1D6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39315-0039-4991-A81B-1B53C595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VALIDATED SOFTWARE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4C2D4-8CB3-4265-8C70-CAF2D90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763000" cy="832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已验证的是软件陪伴管线，不是仿生脸量产。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96224-891B-4C1E-8812-8A4ECC0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这条边界讲清楚，反而更可信：SoulForge 现在证明的是角色大脑和设备协议，下一阶段才购买机电样机能力。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43794-0F03-4C86-988B-B22F257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4DC6C-7780-424A-B802-AF59E7C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9C482-E486-4DC3-A8FC-F69890F7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VERBAL 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808D1-5FE7-4B7F-82FB-B985BC8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41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角色创建成功；/api/preview 返回 dialogue、action、thought、emotion 和多段 MP3。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1B2F2-7A16-4263-8E19-9E798D8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005CF-0076-4429-A881-45C10939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658FF-F8B4-4BC9-88D0-38BB5A3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VOCALIZED 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8BB2B-08EE-4CAF-A409-FE16293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441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非语言角色输出被限制在拟声词 palette 内，同时保留 thought、action 和情绪。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3646E-7559-4865-BC2E-00A8859E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5C4FF-61A4-4C86-AACA-00AEA45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A74AE-8D29-4D09-A06F-894CD7F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Fish Audio 克隆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788F9-4BCC-497D-A40B-805E3688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41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公开 WAV URL 克隆成功，生成 voice profile 并绑定角色，日志可追踪 voice_resolved。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A49B3-A76E-4844-BE3E-FC9C039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33CE2-0B29-410E-942B-85F7E21C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B5768-2398-4EDB-B0B3-6FAD1D1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硬件动作字段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4657A-6905-4C27-ADBD-775E5DA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441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PAD 到 LED / motor / vibration 映射可输出；企鹅高 P/A 返回 waddle，doro 返回 wiggle。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7E349-F324-4C5D-9360-781DFB3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678A7-D2A0-44E4-BC60-35F989B2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674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融资叙事：用已跑通的软件链路去支撑第一台低风险实体样机，而不是现在就声称拥有完整表情机器人能力。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80F79-8548-4BC2-9840-982438DE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Internal smoke evidence, April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54BDD-9495-4B90-9133-60CA9411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1518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75B5B-BF32-4D76-9DA6-44B5F41C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739A1-4A64-48B6-9103-D0C0C56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F59B1-7985-4A37-AC5D-409E776C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7D607-CD65-4AB2-9D1E-F698BBDC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832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路演开场 20 秒：角色记得你，并用身体回应。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CAB01-9217-4A0D-9EBA-8C9D4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965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96F33-250B-470F-BBDA-9EB14539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EF30-94A3-414A-AEA3-464A565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EE94E-36EE-4047-ACCF-C924FB93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用户进入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9651B-2E81-4F48-929A-66A60E84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053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摄像/触摸/语音触发，设备进入陪伴状态。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A12EE-7CB3-47F4-A55D-EF2D6043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7AAC5-EB32-45E4-AB19-602D908B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52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FD7AB-9E02-47E5-8583-3F20E67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读取关系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2AF68-1CA4-4D4C-BB0B-4ABAF90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053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角色知道上次互动、称呼、偏好和当前关系阶段。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C4A9A-4F1E-4440-BE79-D9E00902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E5C13-0B94-4AB1-93A0-796B613C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11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111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F083A-93BA-4209-A8BC-807E5DD1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生成情绪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3DEB6-9BD1-4F5A-81F0-1FFB3D5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PAD 决定语速、语气、LED 颜色和动作强度。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123AA-642A-4400-A4E7-6A480C8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D96B9-C080-493E-8CAF-517FCB3F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52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D9593-9797-4F83-9D90-ADA6E526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实体回应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5879A-9A6B-4C08-9456-727A80E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先抬头/眨眼/轻振，再用角色声音说一句短话。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5B8CD-6B4F-4A84-BDC8-79611AE0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D93E7-DCA8-4A95-BDE2-4235AACD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95925"/>
            <a:ext cx="777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示例台词：</a:t>
            </a:r>
          </a:p>
          <a:p xmlns:a="http://schemas.openxmlformats.org/drawingml/2006/main">
            <a:pPr algn="ctr">
              <a:def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“你今天回来比昨天晚一点。先别急着说话，我陪你坐一会儿。”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54E8A-144E-4BB6-894E-1FE93AA8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Demo-first pitch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2761F5-F2B2-47E3-A0C3-32573227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2345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5226FB-209C-45B5-863E-BE0E20DD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F1949-5896-43EE-B8B2-3F14F1E4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26D17-ECF0-488E-87B0-7033621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FIRST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21BE2-7CC2-4723-9DE6-3623E5CC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第一台样机先做“可信陪伴体”，不硬冲高自由度仿生脸。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DA6F3-20A2-405D-8DF1-21F1AD66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先把角色声音、记忆和低风险身体反馈做扎实，再逐步升级到眼睑、嘴型和多轴表情。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8FFC5-BF20-4999-A244-5484496F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A936B-DF86-44D5-A283-46B60714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41E0-3687-4B58-BB71-EF1878BC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571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6E9A4-E99B-44A1-9120-2C50C02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5A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5A47"/>
                </a:solidFill>
                <a:latin typeface="PingFang SC"/>
                <a:ea typeface="PingFang SC"/>
                <a:cs typeface="PingFang SC"/>
              </a:rPr>
              <a:t>$5-10</a:t>
            </a:r>
          </a:p>
          <a:p xmlns:a="http://schemas.openxmlformats.org/drawingml/2006/main">
            <a:pPr algn="l">
              <a:defRPr sz="1575" b="1">
                <a:solidFill>
                  <a:srgbClr val="FF5A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5A47"/>
                </a:solidFill>
                <a:latin typeface="PingFang SC"/>
                <a:ea typeface="PingFang SC"/>
                <a:cs typeface="PingFang SC"/>
              </a:rPr>
              <a:t>电子 BOM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B52E6-040F-46D6-B543-30F67A60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声音 + LED + 震动</a:t>
            </a:r>
          </a:p>
          <a:p xmlns:a="http://schemas.openxmlformats.org/drawingml/2006/main">
            <a:pPr algn="l">
              <a:def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低成本验证陪伴感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61891-CC1E-416C-962F-1C127416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728B1-3705-4B7C-891D-2B78763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F7A35-433F-497A-9777-BABE28E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2571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33C0C-BE54-43C6-BCB6-B64356A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C9B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C9B8"/>
                </a:solidFill>
                <a:latin typeface="PingFang SC"/>
                <a:ea typeface="PingFang SC"/>
                <a:cs typeface="PingFang SC"/>
              </a:rPr>
              <a:t>$15-25</a:t>
            </a:r>
          </a:p>
          <a:p xmlns:a="http://schemas.openxmlformats.org/drawingml/2006/main">
            <a:pPr algn="l">
              <a:defRPr sz="1575" b="1">
                <a:solidFill>
                  <a:srgbClr val="20C9B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C9B8"/>
                </a:solidFill>
                <a:latin typeface="PingFang SC"/>
                <a:ea typeface="PingFang SC"/>
                <a:cs typeface="PingFang SC"/>
              </a:rPr>
              <a:t>电子 BOM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01DD3-32C7-428F-9E02-98BA17A1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5285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ESP32-S3 + RGB 眼睛</a:t>
            </a:r>
          </a:p>
          <a:p xmlns:a="http://schemas.openxmlformats.org/drawingml/2006/main">
            <a:pPr algn="l">
              <a:def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1 个头部舵机 + 触摸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5B698-5E73-4C51-B43B-79012CA5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CEBDE-F2FC-4962-B74E-33058C32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718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Full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91577-EC97-4265-B0AC-BD00A34B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571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688D2-967A-4DA0-9B37-19AF516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$40-60</a:t>
            </a:r>
          </a:p>
          <a:p xmlns:a="http://schemas.openxmlformats.org/drawingml/2006/main">
            <a:pPr algn="l">
              <a:defRPr sz="1575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电子 BOM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6EE45-C6C8-418B-958A-6C28E122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112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2 轴头部 + 手臂</a:t>
            </a:r>
          </a:p>
          <a:p xmlns:a="http://schemas.openxmlformats.org/drawingml/2006/main">
            <a:pPr algn="l">
              <a:def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LED matrix + 多触点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95D3E-AED5-4A34-A88C-1964878D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B63F5-4130-49B0-892F-0DAF7402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95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样机策略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6DA67-541B-4231-83DF-0C6B156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769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路演演示优先选择 Mid Tier：足够体现“活着”，同时不把资金消耗在高风险仿生脸机构。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0B02F-A19C-4865-9CFB-E9F65844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Hardware tiering from SoulForge integration 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06695-BE67-4F63-9C98-E58FBC65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01058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B4DAB-230F-4E33-ACE8-42BC2BB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65A6D-CA41-487C-A4B0-591E60E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557FC-0DD6-4CD1-BB59-3BE660A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CHARACTER CONSISTENCY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89D62-693D-4B7A-B7EF-CF2D14D9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产品壁垒来自角色一致性，而不是单个记忆或 TTS 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52A3F-A26D-4720-9256-F34D4918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五层记忆、PAD、音色和硬件映射单独看都是 feature；连成闭环后，才是用户感知到的“这是同一个角色”。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B2B45-BAD6-4DC0-B6D9-9D260D35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28A89-5542-44A6-A6E2-B9961D1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E437D-6899-45EA-823F-4039CFC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Persona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37F72-0FDD-4D63-8A5E-4BCD75D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1409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角色设定、称呼、语气和不破壁规则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E839D-1519-41DB-9694-F975395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BF989-8CEB-44A6-8982-11EEB87F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EB857-AED2-4193-984C-B4F67C4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42C25-B035-47D7-A985-9071D71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FF597-E40F-4F4E-8D1B-C4B2EEC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4250"/>
            <a:ext cx="1409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identity / preference / event / relationship / private_state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87B77-E3C9-428C-9F61-EFCFCF9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29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7A3A6-6C4E-46F2-8020-07664FA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2895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B4FEB-80B4-4CF3-93F0-2AD7631E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289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1CE9E-7E74-42E0-99E7-8459EA9E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27865-C402-4B4D-8338-5406AFAA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24250"/>
            <a:ext cx="1409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敏感信息、儿童安全、确认、审计、软删除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14CF4-EEA1-4859-90F4-D07772D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4EF42-2631-4ABA-9EE5-1CDD282A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B7B73-B6CB-473E-BFD9-3612A30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1B1CF-BA2E-46E8-A5C5-EF6BF2F5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Emotion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DC1DE-8319-4701-B010-3C605CCB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1409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PAD 连续情绪驱动声音和硬件输出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5BEC7-DCB4-4DAE-9200-9BE60CFF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CF1FD-4A57-4FE9-844F-D8038365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604DB-4EA3-454D-80CC-AEEF63D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99E5F-AD84-4207-AC74-3FCEFFB5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Body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E6FDB9-6D32-4E1B-9649-A31EF34D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409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LED / motor / vibration 按硬件等级降级表达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D6409-803D-46D5-97A0-58D1FF59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投资逻辑：先用可验证体验拿到留存，再把 IP 授权、供应链成本和互动数据沉淀成真正的防御。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FC407-40FE-4B41-A733-CBCA4CF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Technology as experience, not feature list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4D413-2652-47E2-B2A3-E49E44E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84319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2407B6-4363-417C-901D-59CFB8BF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776E6-803F-4AF8-96D9-EADE7DEC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3C2FB-BEB9-43CF-B710-6AB902B0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IP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800A3-5B81-4700-BB06-D74AA0A3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IP 授权的关键不是“能说话”，而是“不会乱说话”。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31245-0D4D-4544-849C-B2E8BD1F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角色自由生成内容会放大版权方风险，因此 SoulForge 的 IP 接入把可控性做成产品能力。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54DD9-ECE1-4FF0-B603-91E8427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A9E04-C9EB-4708-BBB4-352AA8F4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B7CD5-83F0-4256-BE68-98EB7534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939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人设边界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2DA21-CB39-4C9D-BA0B-4A52A947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9372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角色模板、禁用话题、不可破壁规则和官方语气样例。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767F1-1366-4F22-9576-D2075D2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D9F68-33FB-4292-A90E-C27AF32C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C7C58-2D45-4AEF-A87C-13DA7DB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939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输出约束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DE539-211E-4736-9AA7-440926E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372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非语言模式、短句模式、白名单音效、危险内容拦截。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BD0EB-B005-4915-9F81-641A969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268F9-253B-4923-B5AC-5DF263A8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85B34-A9A5-47CE-BA81-9DEEF4D3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939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记忆策略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481E2-8D37-4D79-84B1-16A93295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9372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敏感记忆分层、确认机制、儿童场景屏蔽和审计日志。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E039E-E380-4D9E-BADF-F07D8DD4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11E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53804-1740-40F5-9846-72E6FC5A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7A599-3784-44A8-9761-6ACC30D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939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商业接口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BC59C-4174-477E-9F09-27DC41D1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9372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授权分成、内容包审核、灰度发布和数据回传。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A271C-D4C8-403F-A637-00E8521B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DD0DF-82AE-44ED-B9EC-02B06E75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53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对 IP 方的卖点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3210C-FB5E-4387-AAAC-751D2D04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不是把角色交给黑盒模型，而是把角色输出放进可审核、可降级、可追责的系统。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0E1EB-CEBB-45F3-B2AC-CF28EC7B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IP risk 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75B33-0814-4D62-8D4E-D0D43AF2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58436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6681F-6F60-41A9-AB58-A042E6A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0D46D-CBBB-4D6E-9A03-107928E6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4A46C-9F1E-4CF6-A5B9-EFB82F98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MARKET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A6DBC-D2D7-4502-B2B9-0F3D52F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先打愿意为角色生命感付费的人，而不是泛儿童市场。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7600B-BA38-4C38-9A1E-3AF6C81F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儿童玩具会带来更重的安全、渠道和售后要求；早期更适合用 IP 粉丝和潮玩用户验证情绪价值。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F488-4FE2-4805-8EED-5AA1C59F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首批人群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8E55A-F3D3-410A-B8A4-9AAD3FD5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购买动机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9C9B8-C5E3-4B47-97BD-E2D9389A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验证方式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F7439-611D-4F9C-9148-4BEA838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首款打法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33541-2286-44FB-AFDA-802A1E9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D9D05-9629-42B0-8B8E-96151EC0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4A0E7-B16C-4AC4-A698-127141CF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二次元/游戏 IP 粉丝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B3404-3FA7-496E-B2AA-A5A2DD16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想把喜爱的角色带到现实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1C580-4CE6-4B88-AAE4-43CDDC6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社群预约、Demo 转发、预售转化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4F959-B92B-4911-BAAC-B98758D0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限定角色样机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CDCDA-8DC8-4180-BBD3-1C0492C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08861-8362-40EF-9CD6-739ED6E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潮玩收藏用户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1D529-CCE2-40A3-B118-EBC5E12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情绪价值、稀缺感、可展示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7C8AB-85FA-483F-A2F8-071969B8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95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盲盒/手办消费能力、线下渠道触达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6FB6A-4300-40C6-B878-4BEAA64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静态收藏升级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F5EDD-E215-46FE-A4D0-61B9D11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3918C-31EB-4308-8C2C-3C1FF802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情感陪伴用户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6F305-EDCA-49D8-9095-97FD7DE1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低压力陪伴、日常在场感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6093C-9E8F-4638-B5DE-F653B9BB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互动时长、7/30 日留存、订阅转化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22B69-C53A-456B-8179-6DF303E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轻语言 companion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CAC10-D57D-4CAA-8C53-4DBEDE05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扩展路径：IP 粉丝验证情绪价值 → 礼品/潮玩渠道放量 → 儿童陪伴和教育场景分阶段进入。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1826F-F8E2-4E5C-ADEE-DB9C889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Initial ICP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23EFB-C582-4664-B2C7-581DA96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358013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48FC6-40DA-4B57-B1C6-4CBF031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5A14E-E3DE-402A-8AF0-4336A572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ACB47-FF18-4F82-B827-5A9229F1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D3758-1561-488A-B988-1E02EA4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810500" cy="832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硬件负责入口，订阅和内容负责复购。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F2F07-919A-4E2B-9EBB-F3EC9A41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早期融资看的是毛利可行性和留存，不是总市场故事。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99662-CD34-42CF-97DD-A47E294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190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DF45F-BDEC-4827-93CD-1FE75BB4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5A47"/>
                </a:solidFill>
                <a:latin typeface="PingFang SC"/>
                <a:ea typeface="PingFang SC"/>
                <a:cs typeface="PingFang SC"/>
              </a:rPr>
              <a:t>硬件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F600D-8DB5-4CE4-9B40-D1E2405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首台 Mid Tier 样机</a:t>
            </a:r>
          </a:p>
          <a:p xmlns:a="http://schemas.openxmlformats.org/drawingml/2006/main">
            <a:pPr algn="l">
              <a:def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目标证明可量产结构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A56DF-90AB-4091-BF49-99AB2ADC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190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B682A-FCBA-4923-8B94-2A21B99F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C9B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C9B8"/>
                </a:solidFill>
                <a:latin typeface="PingFang SC"/>
                <a:ea typeface="PingFang SC"/>
                <a:cs typeface="PingFang SC"/>
              </a:rPr>
              <a:t>订阅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64A40-62BA-45D1-9F10-9D080DC9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长期记忆、云端模型</a:t>
            </a:r>
          </a:p>
          <a:p xmlns:a="http://schemas.openxmlformats.org/drawingml/2006/main">
            <a:pPr algn="l">
              <a:def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角色成长线与多设备同步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E45BD-D3ED-4449-8D15-29FE72C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2190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39528-13D8-4DAE-978A-9DDB208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IP 分成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6E7E3-A625-4165-9DA5-2C97AB7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D382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D382F"/>
                </a:solidFill>
                <a:latin typeface="PingFang SC"/>
                <a:ea typeface="PingFang SC"/>
                <a:cs typeface="PingFang SC"/>
              </a:rPr>
              <a:t>授权角色、声音</a:t>
            </a:r>
          </a:p>
          <a:p xmlns:a="http://schemas.openxmlformats.org/drawingml/2006/main">
            <a:pPr algn="l">
              <a:defRPr sz="900" b="0">
                <a:solidFill>
                  <a:srgbClr val="3D382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D382F"/>
                </a:solidFill>
                <a:latin typeface="PingFang SC"/>
                <a:ea typeface="PingFang SC"/>
                <a:cs typeface="PingFang SC"/>
              </a:rPr>
              <a:t>官方内容包与活动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AF097-ABAE-4C5B-8CED-4849920C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190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BEDDC-B4AE-4773-AC8D-27B80D4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7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D7CFF"/>
                </a:solidFill>
                <a:latin typeface="PingFang SC"/>
                <a:ea typeface="PingFang SC"/>
                <a:cs typeface="PingFang SC"/>
              </a:rPr>
              <a:t>内容包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E9D41-170F-49D7-BA68-06190449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节日剧情、动作</a:t>
            </a:r>
          </a:p>
          <a:p xmlns:a="http://schemas.openxmlformats.org/drawingml/2006/main">
            <a:pPr algn="l">
              <a:def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音色与限定互动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49091-AA7D-47B6-A3F4-C52AD0FC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DD519-95F8-405D-A620-833D0078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早期核心指标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8E248-F5D3-4022-ABA6-8BEF100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959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预售转化、激活率、7/30 日留存、订阅转化、退货率、单台售后成本。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61002-968E-4F70-B74C-F51D7AA9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F877D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F877D"/>
                </a:solidFill>
                <a:latin typeface="PingFang SC"/>
                <a:ea typeface="PingFang SC"/>
                <a:cs typeface="PingFang SC"/>
              </a:rPr>
              <a:t>硬件 BOM 口径仅指电子部分；最终 COGS 还包括外观件、毛绒/塑胶、装配、包装、物流和售后。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341C2-1B73-4A32-99F5-B48B3C6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Revenue model and unit economics focus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2A1D1-E305-4335-911A-BEEF1177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56232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DC50A1-8876-4C2A-A132-15B96D5B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FEAC7-346C-47F5-AAAD-C6BCB3D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55E9D-682A-4538-8111-36E1936C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EFB76-4346-4974-AEE9-65B027D5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现有方案通常只解决语音、静态周边或高价仿生中的一部分。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CF6FE-2FFB-477D-89E5-A4C0D55B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SoulForge 的目标位不是“没有竞品”，而是把角色一致性、长期记忆和可量产实体表达同时做出来。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8A589-7EDD-4913-A371-8A60FD25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8191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4CA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C95BB-FC0B-4147-900D-8CA8638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D1D95-5E92-4908-94E8-1E006EF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B5196-12A0-4005-9283-F6D3F2E8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95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5E5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55E55"/>
                </a:solidFill>
                <a:latin typeface="PingFang SC"/>
                <a:ea typeface="PingFang SC"/>
                <a:cs typeface="PingFang SC"/>
              </a:rPr>
              <a:t>角色/IP 一致性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7C4D2-482C-4269-B577-AAC3EB0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5E5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55E55"/>
                </a:solidFill>
                <a:latin typeface="PingFang SC"/>
                <a:ea typeface="PingFang SC"/>
                <a:cs typeface="PingFang SC"/>
              </a:rPr>
              <a:t>实体表达深度 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49427-814C-4CAC-B765-C350297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81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CCC8-E77B-42C7-AFC8-F8C1D0CF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339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普通对话盒子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2EF8E-ED11-4060-8305-BD2A697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FC8A6-90A0-4302-93D8-A8943ECC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AI 毛绒 / Fuzozo 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18F01-2578-40D0-AE15-3CF70333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24069-E04B-4A3A-A28A-B2E79DD7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037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高价仿生机器人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758DA-DEB5-41AB-868A-91739B57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2EBAD-A1D3-4B7B-97F9-FFF80E6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SoulForge 目标位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78E99-AB77-4F31-A98A-B8A9D92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0AFEF-4C46-403F-8C10-FE37802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244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静态潮玩/IP 周边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01E3F-4231-4506-A741-D8F20CDF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178"/>
                </a:solidFill>
                <a:latin typeface="PingFang SC"/>
                <a:ea typeface="PingFang SC"/>
                <a:cs typeface="PingFang SC"/>
              </a:rPr>
              <a:t>竞品位置为基于公开资料和产品形态的定性判断，后续以用户访谈和样机对比持续校准。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7ADCC-0DE7-4AAD-AF85-2511924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Competitive 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D8E89-D4BC-4DF4-8F47-8F9EF7F2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22218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1B131-F174-4466-BFB6-B0111107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13DAD-8778-4A24-B3E0-50FC19E4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B9C48-EC02-4F7C-9FF9-AF6E664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1E6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78327-0207-4119-B0A4-3FC20E43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种子轮投人：AI 产品先跑通，硬件和 IP 进入合伙人网络。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4675B-1B36-40B8-A7C0-0A4F898C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9D1C7"/>
                </a:solidFill>
                <a:latin typeface="PingFang SC"/>
                <a:ea typeface="PingFang SC"/>
                <a:cs typeface="PingFang SC"/>
              </a:rPr>
              <a:t>早期团队的可信度来自已经跑通的系统、清晰的能力边界，以及对机电、供应链、IP BD 的明确分工。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0ABEA-CDE4-4D0B-97C2-5BDCB434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B3137-0B00-4D2B-9B7B-B4985021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E5686-3C10-45D7-B5EE-10FE3E7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AI 产品 / 全栈工程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7116E-AADA-4507-AE13-18CF87C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8003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SoulForge 核心系统 owner：persona、memory、TTS、gateway、admin web 和端到端 smoke。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65732-9D86-4740-B450-727B297C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A4B5A-6997-4E2F-B4F1-1746462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F748E-30AA-4A4F-94B9-AE93F45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硬件 / 供应链网络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3BD32-EF4D-44A6-A8EF-EE740DE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28003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资金投向机电、ID、打样、BOM、装配和可靠性验证，形成 EVT 样机交付能力。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5B226-5018-47D7-BEFD-8C33655C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4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AD2C9-B714-4230-A460-296D960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D0243-1771-4769-B594-5EFF9A7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IP / 内容 / 渠道网络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190F8-27F9-4536-81CF-19E98A7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8003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BD 围绕授权风控、角色审核、限定预售和社群冷启动，不依赖先拿头部 IP。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91FE4-C1E3-491D-A333-64FB006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1DCCC-E7DE-4F0D-999C-5F4B8817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下一轮前团队目标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9CD50-478E-4861-916D-7981211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57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补齐机电/供应链 owner、IP BD owner 和首批渠道资源，让团队从软件验证进入实体交付。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7565E-FFEC-44A6-8E39-E7A0561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Team and capability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A3638-7817-4D53-AA7F-E8CCCEF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63977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97713-9726-451A-826E-628A5CA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5B799-414E-44F4-B341-957AA5EE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D3B31-31A8-43D0-B2F0-3FD4058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111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1110"/>
                </a:solidFill>
                <a:latin typeface="Aptos"/>
                <a:ea typeface="Aptos"/>
                <a:cs typeface="Aptos"/>
              </a:rPr>
              <a:t>FINANCING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AE2F5-D397-422F-9802-C8926A1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906000" cy="744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本轮融资 500-800 万人民币，交付可被投资人复核的样机证据。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87A5F-F976-4240-AB9D-13C1397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33F3A"/>
                </a:solidFill>
                <a:latin typeface="PingFang SC"/>
                <a:ea typeface="PingFang SC"/>
                <a:cs typeface="PingFang SC"/>
              </a:rPr>
              <a:t>1500-2500 万机构种子轮放到下一阶段：样机、IP 意向和预售/留存数据出现后再谈。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71019-E558-4BC8-8CF4-82D4125B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110"/>
          </a:solidFill>
          <a:ln xmlns:a="http://schemas.openxmlformats.org/drawingml/2006/main" w="9525">
            <a:solidFill>
              <a:srgbClr val="1211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633A4-6BCD-4D0E-A379-085B7F8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EB289-37DD-4040-B1A5-500285F1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9EE"/>
                </a:solidFill>
                <a:latin typeface="PingFang SC"/>
                <a:ea typeface="PingFang SC"/>
                <a:cs typeface="PingFang SC"/>
              </a:rPr>
              <a:t>天使+：500-800 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BB52F-51B0-4534-A302-7B541E3C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4610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8D0C5"/>
                </a:solidFill>
                <a:latin typeface="PingFang SC"/>
                <a:ea typeface="PingFang SC"/>
                <a:cs typeface="PingFang SC"/>
              </a:rPr>
              <a:t>9-12 个月资金周期。用于完成可录屏 Mid Tier 样机、BOM/COGS 口径、首批用户测试和可谈判 IP/渠道线索。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D4CD-692B-4BF0-8DD1-364FF871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DD4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A07B7-13B8-4324-A552-B00FC54B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DE241-1D82-4341-AA34-1E51DBE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下一轮触发条件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99CBD-EC6B-4DBF-9F80-96FDBAF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610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A4640"/>
                </a:solidFill>
                <a:latin typeface="PingFang SC"/>
                <a:ea typeface="PingFang SC"/>
                <a:cs typeface="PingFang SC"/>
              </a:rPr>
              <a:t>样机视频可复现；100-300 名种子用户；7/30 日留存与订阅意愿；至少 1 条 IP 或渠道 LOI；退货/售后风险有数据口径。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00381-7958-40FB-A41D-CF936C17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资金用途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368DE-B77D-4D7B-A2B1-C92D9E2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26F35-F415-42F6-A980-DF62770B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硬件/供应链 35%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714A5-A80A-4FD8-8AC5-4D9113C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7F146-01EB-4607-ACE6-25E30F9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102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AI/云/TTS 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ABFD0-8CF2-40AC-ABC4-05E23E2E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5BEC8-BED8-42D6-BDCE-C906D131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IP/内容 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0AD3C-58CE-4B0B-A150-692455B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673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E7866-EA1F-45A9-9A00-55D804A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102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内测/GTM 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B56ED-F09A-44C0-804E-032D76EF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FC084-2196-492E-94B0-ED50BE5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10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法务/缓冲 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8DC81-841D-4C46-891E-375E1A50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827A2-7922-48B0-8FB4-4F515845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150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2111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21110"/>
                </a:solidFill>
                <a:latin typeface="PingFang SC"/>
                <a:ea typeface="PingFang SC"/>
                <a:cs typeface="PingFang SC"/>
              </a:rPr>
              <a:t>投资人看到的终局不是 PPT：是可以现场演示、可以拆 BOM、可以拿给 100 个用户测试的第一台角色实体。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82E5A-DE91-4CA7-B16C-F48DC064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A79D"/>
                </a:solidFill>
                <a:latin typeface="PingFang SC"/>
                <a:ea typeface="PingFang SC"/>
                <a:cs typeface="PingFang SC"/>
              </a:rPr>
              <a:t>Angel+ financing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D82A3-DB10-4F40-B462-ED85BB2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A79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A79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5482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SoulForge</Application>
  <PresentationFormat>16:9 widescreen</PresentationFormat>
  <Slides>12</Slides>
  <Notes>0</Notes>
  <HiddenSlides>0</HiddenSlides>
  <SharedDoc>false</SharedDoc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SoulForge AI潮玩 天使轮路演修正版</dc:title>
  <dc:subject>AI潮玩融资路演</dc:subject>
  <dc:creator>SoulForge</dc:creator>
  <cp:keywords>AI潮玩; SoulForge; 天使轮; 路演</cp:keywords>
  <dc:description>Angel+ financing deck for SoulForge AI companion toy strategy.</dc:description>
  <cp:lastModifiedBy>SoulForge</cp:lastModifiedBy>
  <dcterms:created xsi:type="dcterms:W3CDTF">2026-06-10T07:31:45Z</dcterms:created>
  <dcterms:modified xsi:type="dcterms:W3CDTF">2026-06-10T07:31:45Z</dcterms:modified>
</cp:coreProperties>
</file>